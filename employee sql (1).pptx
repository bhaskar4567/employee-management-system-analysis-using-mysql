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87" r:id="rId5"/>
    <p:sldId id="373" r:id="rId6"/>
    <p:sldId id="260" r:id="rId7"/>
    <p:sldId id="367" r:id="rId8"/>
    <p:sldId id="284" r:id="rId9"/>
    <p:sldId id="374" r:id="rId10"/>
    <p:sldId id="362" r:id="rId11"/>
    <p:sldId id="375" r:id="rId12"/>
    <p:sldId id="376" r:id="rId13"/>
    <p:sldId id="377" r:id="rId14"/>
    <p:sldId id="378" r:id="rId15"/>
    <p:sldId id="379" r:id="rId16"/>
    <p:sldId id="365" r:id="rId17"/>
    <p:sldId id="380" r:id="rId18"/>
    <p:sldId id="366" r:id="rId19"/>
    <p:sldId id="259" r:id="rId20"/>
  </p:sldIdLst>
  <p:sldSz cx="12192000" cy="6858000"/>
  <p:notesSz cx="6858000" cy="9144000"/>
  <p:embeddedFontLst>
    <p:embeddedFont>
      <p:font typeface="Calibri" panose="020F0502020204030204"/>
      <p:regular r:id="rId24"/>
      <p:bold r:id="rId25"/>
      <p:italic r:id="rId26"/>
      <p:boldItalic r:id="rId27"/>
    </p:embeddedFont>
    <p:embeddedFont>
      <p:font typeface="Arial Narrow" panose="020B0606020202030204" pitchFamily="34" charset="0"/>
      <p:regular r:id="rId28"/>
      <p:bold r:id="rId29"/>
      <p:italic r:id="rId30"/>
      <p:boldItalic r:id="rId31"/>
    </p:embeddedFont>
    <p:embeddedFont>
      <p:font typeface="Lato Black" panose="020F0502020204030203"/>
      <p:bold r:id="rId32"/>
    </p:embeddedFont>
    <p:embeddedFont>
      <p:font typeface="Calibri" panose="020F0502020204030204" charset="0"/>
      <p:regular r:id="rId33"/>
      <p:bold r:id="rId34"/>
      <p:italic r:id="rId35"/>
      <p:boldItalic r:id="rId36"/>
    </p:embeddedFont>
    <p:embeddedFont>
      <p:font typeface="Libre Baskerville" panose="0200000000000000000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font" Target="fonts/font17.fntdata"/><Relationship Id="rId4" Type="http://schemas.openxmlformats.org/officeDocument/2006/relationships/notesMaster" Target="notesMasters/notesMaster1.xml"/><Relationship Id="rId39" Type="http://schemas.openxmlformats.org/officeDocument/2006/relationships/font" Target="fonts/font16.fntdata"/><Relationship Id="rId38" Type="http://schemas.openxmlformats.org/officeDocument/2006/relationships/font" Target="fonts/font15.fntdata"/><Relationship Id="rId37" Type="http://schemas.openxmlformats.org/officeDocument/2006/relationships/font" Target="fonts/font14.fntdata"/><Relationship Id="rId36" Type="http://schemas.openxmlformats.org/officeDocument/2006/relationships/font" Target="fonts/font13.fntdata"/><Relationship Id="rId35" Type="http://schemas.openxmlformats.org/officeDocument/2006/relationships/font" Target="fonts/font12.fntdata"/><Relationship Id="rId34" Type="http://schemas.openxmlformats.org/officeDocument/2006/relationships/font" Target="fonts/font11.fntdata"/><Relationship Id="rId33" Type="http://schemas.openxmlformats.org/officeDocument/2006/relationships/font" Target="fonts/font10.fntdata"/><Relationship Id="rId32" Type="http://schemas.openxmlformats.org/officeDocument/2006/relationships/font" Target="fonts/font9.fntdata"/><Relationship Id="rId31" Type="http://schemas.openxmlformats.org/officeDocument/2006/relationships/font" Target="fonts/font8.fntdata"/><Relationship Id="rId30" Type="http://schemas.openxmlformats.org/officeDocument/2006/relationships/font" Target="fonts/font7.fntdata"/><Relationship Id="rId3" Type="http://schemas.openxmlformats.org/officeDocument/2006/relationships/slide" Target="slides/slide1.xml"/><Relationship Id="rId29" Type="http://schemas.openxmlformats.org/officeDocument/2006/relationships/font" Target="fonts/font6.fntdata"/><Relationship Id="rId28" Type="http://schemas.openxmlformats.org/officeDocument/2006/relationships/font" Target="fonts/font5.fntdata"/><Relationship Id="rId27" Type="http://schemas.openxmlformats.org/officeDocument/2006/relationships/font" Target="fonts/font4.fntdata"/><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fld>
            <a:endPar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fld>
            <a:endPar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5" name="Google Shape;25;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9" name="Google Shape;39;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54" name="Google Shape;54;p12"/>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64" name="Google Shape;64;p13"/>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hyperlink" Target="https://github.com/kushalb8" TargetMode="External"/><Relationship Id="rId1" Type="http://schemas.openxmlformats.org/officeDocument/2006/relationships/hyperlink" Target="https://www.linkedin.com/in/kushal-medaboina-315020328/"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1"/>
          <a:srcRect/>
          <a:stretch>
            <a:fillRect/>
          </a:stretch>
        </p:blipFill>
        <p:spPr>
          <a:xfrm>
            <a:off x="635" y="0"/>
            <a:ext cx="12190730" cy="6858000"/>
          </a:xfrm>
          <a:prstGeom prst="rect">
            <a:avLst/>
          </a:prstGeom>
          <a:noFill/>
          <a:ln>
            <a:noFill/>
          </a:ln>
        </p:spPr>
      </p:pic>
      <p:sp>
        <p:nvSpPr>
          <p:cNvPr id="99" name="Google Shape;99;p1"/>
          <p:cNvSpPr txBox="1"/>
          <p:nvPr/>
        </p:nvSpPr>
        <p:spPr>
          <a:xfrm>
            <a:off x="2610556" y="3708153"/>
            <a:ext cx="7246189" cy="984845"/>
          </a:xfrm>
          <a:prstGeom prst="rect">
            <a:avLst/>
          </a:prstGeom>
          <a:noFill/>
          <a:ln>
            <a:noFill/>
          </a:ln>
        </p:spPr>
        <p:txBody>
          <a:bodyPr spcFirstLastPara="1" wrap="square" lIns="91425" tIns="45700" rIns="91425" bIns="45700" anchor="t" anchorCtr="0">
            <a:spAutoFit/>
          </a:bodyPr>
          <a:lstStyle/>
          <a:p>
            <a:pPr lvl="0" algn="ctr">
              <a:buSzPts val="1800"/>
            </a:pPr>
            <a:br>
              <a:rPr lang="en-IN" sz="1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br>
            <a:r>
              <a:rPr lang="en-IN" sz="4000" b="1" dirty="0">
                <a:solidFill>
                  <a:srgbClr val="002060"/>
                </a:solidFill>
                <a:latin typeface="Arial Narrow" panose="020B0606020202030204" pitchFamily="34" charset="0"/>
              </a:rPr>
              <a:t>Employee Management System</a:t>
            </a:r>
            <a:endParaRPr sz="4000" b="0" i="0" u="none" strike="noStrike" cap="none" dirty="0">
              <a:solidFill>
                <a:srgbClr val="002060"/>
              </a:solidFill>
              <a:latin typeface="Arial Narrow" panose="020B0606020202030204" pitchFamily="34" charset="0"/>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27979" y="1780952"/>
            <a:ext cx="10982240" cy="124396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chemeClr val="dk1"/>
              </a:buClr>
              <a:buSzPts val="2400"/>
              <a:buFont typeface="Arial" panose="020B0604020202020204"/>
              <a:buNone/>
            </a:pPr>
            <a:endParaRPr lang="en-IN" sz="18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50000"/>
              </a:lnSpc>
              <a:spcBef>
                <a:spcPts val="0"/>
              </a:spcBef>
              <a:spcAft>
                <a:spcPts val="0"/>
              </a:spcAft>
              <a:buClr>
                <a:schemeClr val="dk1"/>
              </a:buClr>
              <a:buSzPts val="2400"/>
              <a:buFont typeface="Arial" panose="020B0604020202020204" pitchFamily="34" charset="0"/>
              <a:buNone/>
            </a:pPr>
            <a:endParaRPr lang="en-IN" sz="1800" b="1" dirty="0">
              <a:solidFill>
                <a:schemeClr val="dk1"/>
              </a:solidFill>
              <a:latin typeface="Calibri" panose="020F0502020204030204"/>
              <a:ea typeface="Calibri" panose="020F0502020204030204"/>
              <a:cs typeface="Calibri" panose="020F0502020204030204"/>
              <a:sym typeface="Calibri" panose="020F0502020204030204"/>
            </a:endParaRPr>
          </a:p>
          <a:p>
            <a:pPr lvl="0">
              <a:lnSpc>
                <a:spcPct val="150000"/>
              </a:lnSpc>
              <a:buClr>
                <a:schemeClr val="dk1"/>
              </a:buClr>
              <a:buSzPts val="2400"/>
            </a:pPr>
            <a:r>
              <a:rPr lang="en-IN" b="1" i="0" u="none" strike="noStrike" cap="none" dirty="0">
                <a:solidFill>
                  <a:schemeClr val="dk1"/>
                </a:solidFill>
                <a:latin typeface="Arial" panose="020B0604020202020204" pitchFamily="34" charset="0"/>
                <a:ea typeface="Calibri" panose="020F0502020204030204"/>
                <a:cs typeface="Arial" panose="020B0604020202020204" pitchFamily="34" charset="0"/>
                <a:sym typeface="Calibri" panose="020F0502020204030204"/>
              </a:rPr>
              <a:t>   </a:t>
            </a:r>
            <a:endParaRPr lang="en-US" altLang="en-US" sz="180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5" name="Google Shape;105;p3"/>
          <p:cNvSpPr txBox="1"/>
          <p:nvPr/>
        </p:nvSpPr>
        <p:spPr>
          <a:xfrm>
            <a:off x="974090" y="1064260"/>
            <a:ext cx="10090785" cy="1774825"/>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rgbClr val="FF0000"/>
              </a:buClr>
              <a:buSzPts val="3200"/>
              <a:buFont typeface="Lato Black" panose="020F0502020204030203"/>
              <a:buNone/>
            </a:pPr>
            <a:r>
              <a:rPr lang="en-IN" sz="4400" b="1" i="0" u="none" strike="noStrike" cap="none" dirty="0">
                <a:solidFill>
                  <a:srgbClr val="FF0000"/>
                </a:solidFill>
                <a:latin typeface="Times New Roman" panose="02020603050405020304" charset="0"/>
                <a:ea typeface="Lato Black" panose="020F0502020204030203"/>
                <a:cs typeface="Times New Roman" panose="02020603050405020304" charset="0"/>
                <a:sym typeface="Lato Black" panose="020F0502020204030203"/>
              </a:rPr>
              <a:t>About Me</a:t>
            </a:r>
            <a:endParaRPr lang="en-US" altLang="en-IN" sz="4400" b="1" i="0" u="none" strike="noStrike" cap="none" dirty="0">
              <a:solidFill>
                <a:srgbClr val="FF0000"/>
              </a:solidFill>
              <a:latin typeface="Times New Roman" panose="02020603050405020304" charset="0"/>
              <a:ea typeface="Lato Black" panose="020F0502020204030203"/>
              <a:cs typeface="Times New Roman" panose="02020603050405020304" charset="0"/>
              <a:sym typeface="Lato Black" panose="020F0502020204030203"/>
            </a:endParaRPr>
          </a:p>
          <a:p>
            <a:pPr marL="0" marR="0" lvl="0" indent="0" algn="l" rtl="0">
              <a:lnSpc>
                <a:spcPct val="80000"/>
              </a:lnSpc>
              <a:spcBef>
                <a:spcPts val="0"/>
              </a:spcBef>
              <a:spcAft>
                <a:spcPts val="0"/>
              </a:spcAft>
              <a:buClr>
                <a:srgbClr val="FF0000"/>
              </a:buClr>
              <a:buSzPts val="3200"/>
              <a:buFont typeface="Lato Black" panose="020F0502020204030203"/>
              <a:buNone/>
            </a:pPr>
            <a:endParaRPr lang="en-IN" b="1" i="0" u="none" strike="noStrike" cap="none" dirty="0">
              <a:solidFill>
                <a:schemeClr val="tx1"/>
              </a:solidFill>
              <a:latin typeface="Calibri" panose="020F0502020204030204" charset="0"/>
              <a:ea typeface="Calibri" panose="020F0502020204030204"/>
              <a:cs typeface="Calibri" panose="020F0502020204030204" charset="0"/>
              <a:sym typeface="Lato Black" panose="020F0502020204030203"/>
            </a:endParaRPr>
          </a:p>
          <a:p>
            <a:pPr marL="0" marR="0" lvl="0" indent="0" algn="just" rtl="0">
              <a:lnSpc>
                <a:spcPct val="150000"/>
              </a:lnSpc>
              <a:spcBef>
                <a:spcPts val="0"/>
              </a:spcBef>
              <a:spcAft>
                <a:spcPts val="0"/>
              </a:spcAft>
              <a:buClr>
                <a:srgbClr val="FF0000"/>
              </a:buClr>
              <a:buSzPts val="3200"/>
              <a:buFont typeface="Lato Black" panose="020F0502020204030203"/>
              <a:buNone/>
            </a:pPr>
            <a:endParaRPr lang="en-US" altLang="en-IN" b="0" i="0" u="none" strike="noStrike" cap="none" dirty="0">
              <a:solidFill>
                <a:schemeClr val="tx1"/>
              </a:solidFill>
              <a:latin typeface="Lato Black" panose="020F0502020204030203"/>
              <a:ea typeface="Calibri" panose="020F0502020204030204"/>
              <a:cs typeface="Calibri" panose="020F0502020204030204"/>
              <a:sym typeface="Lato Black" panose="020F0502020204030203"/>
            </a:endParaRPr>
          </a:p>
        </p:txBody>
      </p:sp>
      <p:sp>
        <p:nvSpPr>
          <p:cNvPr id="2" name="Text Box 1"/>
          <p:cNvSpPr txBox="1"/>
          <p:nvPr/>
        </p:nvSpPr>
        <p:spPr>
          <a:xfrm>
            <a:off x="1033145" y="2667635"/>
            <a:ext cx="9458325" cy="1607820"/>
          </a:xfrm>
          <a:prstGeom prst="rect">
            <a:avLst/>
          </a:prstGeom>
          <a:noFill/>
        </p:spPr>
        <p:txBody>
          <a:bodyPr wrap="square" rtlCol="0">
            <a:noAutofit/>
          </a:bodyPr>
          <a:p>
            <a:endParaRPr lang="en-US"/>
          </a:p>
        </p:txBody>
      </p:sp>
      <p:sp>
        <p:nvSpPr>
          <p:cNvPr id="3" name="Text Box 2"/>
          <p:cNvSpPr txBox="1"/>
          <p:nvPr/>
        </p:nvSpPr>
        <p:spPr>
          <a:xfrm>
            <a:off x="1080770" y="1781175"/>
            <a:ext cx="9410700" cy="2861310"/>
          </a:xfrm>
          <a:prstGeom prst="rect">
            <a:avLst/>
          </a:prstGeom>
          <a:noFill/>
        </p:spPr>
        <p:txBody>
          <a:bodyPr wrap="square" rtlCol="0">
            <a:spAutoFit/>
          </a:bodyPr>
          <a:p>
            <a:pPr marL="0" marR="0" lvl="0" indent="0" algn="just" rtl="0">
              <a:lnSpc>
                <a:spcPct val="150000"/>
              </a:lnSpc>
              <a:spcBef>
                <a:spcPts val="0"/>
              </a:spcBef>
              <a:spcAft>
                <a:spcPts val="0"/>
              </a:spcAft>
              <a:buClr>
                <a:srgbClr val="FF0000"/>
              </a:buClr>
              <a:buSzPts val="3200"/>
              <a:buFont typeface="Lato Black" panose="020F0502020204030203"/>
              <a:buNone/>
            </a:pPr>
            <a:r>
              <a:rPr lang="en-IN" sz="2000" b="1" dirty="0">
                <a:solidFill>
                  <a:schemeClr val="tx1"/>
                </a:solidFill>
                <a:latin typeface="Calibri" panose="020F0502020204030204" charset="0"/>
                <a:ea typeface="Calibri" panose="020F0502020204030204"/>
                <a:cs typeface="Calibri" panose="020F0502020204030204" charset="0"/>
                <a:sym typeface="Lato Black" panose="020F0502020204030203"/>
              </a:rPr>
              <a:t>Name</a:t>
            </a:r>
            <a:r>
              <a:rPr lang="en-US" altLang="en-IN" sz="2000" b="1" dirty="0">
                <a:solidFill>
                  <a:schemeClr val="tx1"/>
                </a:solidFill>
                <a:latin typeface="Calibri" panose="020F0502020204030204" charset="0"/>
                <a:ea typeface="Calibri" panose="020F0502020204030204"/>
                <a:cs typeface="Calibri" panose="020F0502020204030204" charset="0"/>
                <a:sym typeface="Lato Black" panose="020F0502020204030203"/>
              </a:rPr>
              <a:t> </a:t>
            </a:r>
            <a:r>
              <a:rPr lang="en-IN" sz="2000" b="1" dirty="0">
                <a:solidFill>
                  <a:schemeClr val="tx1"/>
                </a:solidFill>
                <a:latin typeface="Calibri" panose="020F0502020204030204" charset="0"/>
                <a:ea typeface="Calibri" panose="020F0502020204030204"/>
                <a:cs typeface="Calibri" panose="020F0502020204030204" charset="0"/>
                <a:sym typeface="Lato Black" panose="020F0502020204030203"/>
              </a:rPr>
              <a:t>: </a:t>
            </a:r>
            <a:r>
              <a:rPr lang="en-IN" sz="2000" dirty="0">
                <a:solidFill>
                  <a:schemeClr val="tx1"/>
                </a:solidFill>
                <a:latin typeface="Calibri" panose="020F0502020204030204" charset="0"/>
                <a:ea typeface="Calibri" panose="020F0502020204030204"/>
                <a:cs typeface="Calibri" panose="020F0502020204030204" charset="0"/>
                <a:sym typeface="Lato Black" panose="020F0502020204030203"/>
              </a:rPr>
              <a:t>M.Kushal</a:t>
            </a:r>
            <a:endParaRPr lang="en-US" altLang="en-IN" sz="2000" dirty="0">
              <a:solidFill>
                <a:schemeClr val="tx1"/>
              </a:solidFill>
              <a:latin typeface="Calibri" panose="020F0502020204030204" charset="0"/>
              <a:ea typeface="Calibri" panose="020F0502020204030204"/>
              <a:cs typeface="Calibri" panose="020F0502020204030204" charset="0"/>
              <a:sym typeface="Lato Black" panose="020F0502020204030203"/>
            </a:endParaRPr>
          </a:p>
          <a:p>
            <a:pPr marL="0" marR="0" lvl="0" indent="0" algn="just" rtl="0">
              <a:lnSpc>
                <a:spcPct val="150000"/>
              </a:lnSpc>
              <a:spcBef>
                <a:spcPts val="0"/>
              </a:spcBef>
              <a:spcAft>
                <a:spcPts val="0"/>
              </a:spcAft>
              <a:buClr>
                <a:srgbClr val="FF0000"/>
              </a:buClr>
              <a:buSzPts val="3200"/>
              <a:buFont typeface="Lato Black" panose="020F0502020204030203"/>
              <a:buNone/>
            </a:pPr>
            <a:r>
              <a:rPr lang="en-IN" sz="2000" b="1" dirty="0">
                <a:solidFill>
                  <a:schemeClr val="dk1"/>
                </a:solidFill>
                <a:latin typeface="Calibri" panose="020F0502020204030204"/>
                <a:ea typeface="Calibri" panose="020F0502020204030204"/>
                <a:cs typeface="Calibri" panose="020F0502020204030204"/>
                <a:sym typeface="Calibri" panose="020F0502020204030204"/>
              </a:rPr>
              <a:t>Background</a:t>
            </a:r>
            <a:r>
              <a:rPr lang="en-US" altLang="en-IN" sz="2000" b="1" dirty="0">
                <a:solidFill>
                  <a:schemeClr val="dk1"/>
                </a:solidFill>
                <a:latin typeface="Calibri" panose="020F0502020204030204"/>
                <a:ea typeface="Calibri" panose="020F0502020204030204"/>
                <a:cs typeface="Calibri" panose="020F0502020204030204"/>
                <a:sym typeface="Calibri" panose="020F0502020204030204"/>
              </a:rPr>
              <a:t> </a:t>
            </a:r>
            <a:r>
              <a:rPr lang="en-IN" sz="2000" b="1" dirty="0">
                <a:solidFill>
                  <a:schemeClr val="dk1"/>
                </a:solidFill>
                <a:latin typeface="Calibri" panose="020F0502020204030204"/>
                <a:ea typeface="Calibri" panose="020F0502020204030204"/>
                <a:cs typeface="Calibri" panose="020F0502020204030204"/>
                <a:sym typeface="Calibri" panose="020F0502020204030204"/>
              </a:rPr>
              <a:t>:</a:t>
            </a:r>
            <a:r>
              <a:rPr lang="en-US" altLang="en-IN" sz="2000" b="1" dirty="0">
                <a:solidFill>
                  <a:schemeClr val="dk1"/>
                </a:solidFill>
                <a:latin typeface="Calibri" panose="020F0502020204030204"/>
                <a:ea typeface="Calibri" panose="020F0502020204030204"/>
                <a:cs typeface="Calibri" panose="020F0502020204030204"/>
                <a:sym typeface="Calibri" panose="020F0502020204030204"/>
              </a:rPr>
              <a:t> </a:t>
            </a:r>
            <a:r>
              <a:rPr lang="en-IN" sz="2000" dirty="0">
                <a:solidFill>
                  <a:schemeClr val="dk1"/>
                </a:solidFill>
                <a:latin typeface="Calibri" panose="020F0502020204030204"/>
                <a:ea typeface="Calibri" panose="020F0502020204030204"/>
                <a:cs typeface="Calibri" panose="020F0502020204030204"/>
                <a:sym typeface="Calibri" panose="020F0502020204030204"/>
              </a:rPr>
              <a:t>B Tech </a:t>
            </a:r>
            <a:r>
              <a:rPr lang="en-US" altLang="en-IN" sz="2000" dirty="0">
                <a:solidFill>
                  <a:schemeClr val="dk1"/>
                </a:solidFill>
                <a:latin typeface="Calibri" panose="020F0502020204030204"/>
                <a:ea typeface="Calibri" panose="020F0502020204030204"/>
                <a:cs typeface="Calibri" panose="020F0502020204030204"/>
                <a:sym typeface="Calibri" panose="020F0502020204030204"/>
              </a:rPr>
              <a:t>(Computer Science Engineering</a:t>
            </a:r>
            <a:r>
              <a:rPr lang="en-IN" sz="2000" dirty="0">
                <a:solidFill>
                  <a:schemeClr val="dk1"/>
                </a:solidFill>
                <a:latin typeface="Calibri" panose="020F0502020204030204"/>
                <a:ea typeface="Calibri" panose="020F0502020204030204"/>
                <a:cs typeface="Calibri" panose="020F0502020204030204"/>
                <a:sym typeface="Calibri" panose="020F0502020204030204"/>
              </a:rPr>
              <a:t>)</a:t>
            </a:r>
            <a:endParaRPr lang="en-IN" sz="20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50000"/>
              </a:lnSpc>
              <a:spcBef>
                <a:spcPts val="0"/>
              </a:spcBef>
              <a:spcAft>
                <a:spcPts val="0"/>
              </a:spcAft>
              <a:buClr>
                <a:srgbClr val="FF0000"/>
              </a:buClr>
              <a:buSzPts val="3200"/>
              <a:buFont typeface="Lato Black" panose="020F0502020204030203"/>
              <a:buNone/>
            </a:pPr>
            <a:r>
              <a:rPr lang="en-IN" sz="2000" b="1" dirty="0">
                <a:solidFill>
                  <a:schemeClr val="dk1"/>
                </a:solidFill>
                <a:latin typeface="Calibri" panose="020F0502020204030204"/>
                <a:ea typeface="Calibri" panose="020F0502020204030204"/>
                <a:cs typeface="Calibri" panose="020F0502020204030204"/>
                <a:sym typeface="Calibri" panose="020F0502020204030204"/>
              </a:rPr>
              <a:t>Work Experience : </a:t>
            </a:r>
            <a:r>
              <a:rPr lang="en-IN" sz="2000" dirty="0">
                <a:solidFill>
                  <a:schemeClr val="dk1"/>
                </a:solidFill>
                <a:latin typeface="Calibri" panose="020F0502020204030204"/>
                <a:ea typeface="Calibri" panose="020F0502020204030204"/>
                <a:cs typeface="Calibri" panose="020F0502020204030204"/>
                <a:sym typeface="Calibri" panose="020F0502020204030204"/>
              </a:rPr>
              <a:t>No</a:t>
            </a:r>
            <a:endParaRPr lang="en-IN" sz="2000" b="1"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50000"/>
              </a:lnSpc>
              <a:spcBef>
                <a:spcPts val="0"/>
              </a:spcBef>
              <a:spcAft>
                <a:spcPts val="0"/>
              </a:spcAft>
              <a:buClr>
                <a:srgbClr val="FF0000"/>
              </a:buClr>
              <a:buSzPts val="3200"/>
              <a:buFont typeface="Lato Black" panose="020F0502020204030203"/>
              <a:buNone/>
            </a:pPr>
            <a:r>
              <a:rPr lang="en-IN" sz="2000" b="1">
                <a:latin typeface="Arial" panose="020B0604020202020204" pitchFamily="34" charset="0"/>
                <a:cs typeface="Arial" panose="020B0604020202020204" pitchFamily="34" charset="0"/>
              </a:rPr>
              <a:t>LinkedIn :</a:t>
            </a:r>
            <a:r>
              <a:rPr lang="en-IN" sz="2000">
                <a:latin typeface="Arial" panose="020B0604020202020204" pitchFamily="34" charset="0"/>
                <a:cs typeface="Arial" panose="020B0604020202020204" pitchFamily="34" charset="0"/>
              </a:rPr>
              <a:t> </a:t>
            </a:r>
            <a:r>
              <a:rPr lang="en-US" altLang="en-US" sz="2000">
                <a:latin typeface="Arial" panose="020B0604020202020204" pitchFamily="34" charset="0"/>
                <a:cs typeface="Arial" panose="020B0604020202020204" pitchFamily="34" charset="0"/>
                <a:hlinkClick r:id="rId1" action="ppaction://hlinkfile"/>
              </a:rPr>
              <a:t>https://www.linkedin.com/in/kushal-medaboina-315020328/</a:t>
            </a:r>
            <a:endParaRPr lang="en-US" altLang="en-US" sz="2000">
              <a:latin typeface="Arial" panose="020B0604020202020204" pitchFamily="34" charset="0"/>
              <a:cs typeface="Arial" panose="020B0604020202020204" pitchFamily="34" charset="0"/>
            </a:endParaRPr>
          </a:p>
          <a:p>
            <a:pPr marL="0" marR="0" lvl="0" indent="0" algn="l" rtl="0">
              <a:lnSpc>
                <a:spcPct val="150000"/>
              </a:lnSpc>
              <a:spcBef>
                <a:spcPts val="0"/>
              </a:spcBef>
              <a:spcAft>
                <a:spcPts val="0"/>
              </a:spcAft>
              <a:buClr>
                <a:srgbClr val="FF0000"/>
              </a:buClr>
              <a:buSzPts val="3200"/>
              <a:buFont typeface="Lato Black" panose="020F0502020204030203"/>
              <a:buNone/>
            </a:pPr>
            <a:r>
              <a:rPr lang="en-IN" altLang="en-US" sz="2000" b="1">
                <a:latin typeface="Arial" panose="020B0604020202020204" pitchFamily="34" charset="0"/>
                <a:cs typeface="Arial" panose="020B0604020202020204" pitchFamily="34" charset="0"/>
              </a:rPr>
              <a:t>GitHub : </a:t>
            </a:r>
            <a:r>
              <a:rPr lang="en-US" altLang="en-US" sz="2000">
                <a:latin typeface="Arial" panose="020B0604020202020204" pitchFamily="34" charset="0"/>
                <a:cs typeface="Arial" panose="020B0604020202020204" pitchFamily="34" charset="0"/>
                <a:hlinkClick r:id="rId2" action="ppaction://hlinkfile"/>
              </a:rPr>
              <a:t>https://github.com/kushalb8</a:t>
            </a:r>
            <a:endParaRPr lang="en-US" altLang="en-US" sz="2000">
              <a:latin typeface="Arial" panose="020B0604020202020204" pitchFamily="34" charset="0"/>
              <a:cs typeface="Arial" panose="020B0604020202020204" pitchFamily="34" charset="0"/>
            </a:endParaRPr>
          </a:p>
          <a:p>
            <a:pPr marL="0" marR="0" lvl="0" indent="0" algn="l" rtl="0">
              <a:lnSpc>
                <a:spcPct val="150000"/>
              </a:lnSpc>
              <a:spcBef>
                <a:spcPts val="0"/>
              </a:spcBef>
              <a:spcAft>
                <a:spcPts val="0"/>
              </a:spcAft>
              <a:buClr>
                <a:srgbClr val="FF0000"/>
              </a:buClr>
              <a:buSzPts val="3200"/>
              <a:buFont typeface="Lato Black" panose="020F0502020204030203"/>
              <a:buNone/>
            </a:pPr>
            <a:endParaRPr lang="en-US" altLang="en-US" sz="2000">
              <a:latin typeface="Arial" panose="020B0604020202020204" pitchFamily="34" charset="0"/>
              <a:cs typeface="Arial" panose="020B0604020202020204" pitchFamily="34" charset="0"/>
            </a:endParaRPr>
          </a:p>
        </p:txBody>
      </p:sp>
    </p:spTree>
  </p:cSld>
  <p:clrMapOvr>
    <a:masterClrMapping/>
  </p:clrMapOvr>
  <p:transition advClick="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81050" y="629920"/>
            <a:ext cx="6096000" cy="645160"/>
          </a:xfrm>
          <a:prstGeom prst="rect">
            <a:avLst/>
          </a:prstGeom>
          <a:noFill/>
        </p:spPr>
        <p:txBody>
          <a:bodyPr wrap="square" rtlCol="0" anchor="t">
            <a:spAutoFit/>
          </a:bodyPr>
          <a:p>
            <a:pPr marL="25400" lvl="0">
              <a:lnSpc>
                <a:spcPct val="90000"/>
              </a:lnSpc>
              <a:spcBef>
                <a:spcPts val="1000"/>
              </a:spcBef>
              <a:buSzPts val="2400"/>
            </a:pPr>
            <a:r>
              <a:rPr lang="en-US" altLang="en-IN" sz="4000" b="1" dirty="0">
                <a:solidFill>
                  <a:srgbClr val="FF0000"/>
                </a:solidFill>
                <a:latin typeface="Times New Roman" panose="02020603050405020304" charset="0"/>
                <a:cs typeface="Times New Roman" panose="02020603050405020304" charset="0"/>
                <a:sym typeface="+mn-ea"/>
              </a:rPr>
              <a:t>Agenda</a:t>
            </a:r>
            <a:endParaRPr lang="en-US" altLang="en-IN" sz="4000" b="1" dirty="0">
              <a:solidFill>
                <a:srgbClr val="FF0000"/>
              </a:solidFill>
              <a:latin typeface="Times New Roman" panose="02020603050405020304" charset="0"/>
              <a:cs typeface="Times New Roman" panose="02020603050405020304" charset="0"/>
              <a:sym typeface="+mn-ea"/>
            </a:endParaRPr>
          </a:p>
        </p:txBody>
      </p:sp>
      <p:sp>
        <p:nvSpPr>
          <p:cNvPr id="3" name="Text Box 2"/>
          <p:cNvSpPr txBox="1"/>
          <p:nvPr/>
        </p:nvSpPr>
        <p:spPr>
          <a:xfrm>
            <a:off x="913130" y="1524000"/>
            <a:ext cx="6878955" cy="3538220"/>
          </a:xfrm>
          <a:prstGeom prst="rect">
            <a:avLst/>
          </a:prstGeom>
          <a:noFill/>
        </p:spPr>
        <p:txBody>
          <a:bodyPr wrap="square" rtlCol="0">
            <a:spAutoFit/>
          </a:bodyPr>
          <a:p>
            <a:pPr marL="285750" indent="-285750">
              <a:buFont typeface="Arial" panose="020B0604020202020204" pitchFamily="34" charset="0"/>
              <a:buChar char="•"/>
            </a:pPr>
            <a:r>
              <a:rPr lang="en-US" sz="3200"/>
              <a:t>Business Problem</a:t>
            </a:r>
            <a:endParaRPr lang="en-US" sz="3200"/>
          </a:p>
          <a:p>
            <a:pPr marL="285750" indent="-285750">
              <a:buFont typeface="Arial" panose="020B0604020202020204" pitchFamily="34" charset="0"/>
              <a:buChar char="•"/>
            </a:pPr>
            <a:r>
              <a:rPr lang="en-US" sz="3200"/>
              <a:t>Objective of the Project</a:t>
            </a:r>
            <a:endParaRPr lang="en-US" sz="3200"/>
          </a:p>
          <a:p>
            <a:pPr marL="285750" indent="-285750">
              <a:buFont typeface="Arial" panose="020B0604020202020204" pitchFamily="34" charset="0"/>
              <a:buChar char="•"/>
            </a:pPr>
            <a:r>
              <a:rPr lang="en-US" sz="3200"/>
              <a:t>ER Diagram</a:t>
            </a:r>
            <a:endParaRPr lang="en-US" sz="3200"/>
          </a:p>
          <a:p>
            <a:pPr marL="285750" indent="-285750">
              <a:buFont typeface="Arial" panose="020B0604020202020204" pitchFamily="34" charset="0"/>
              <a:buChar char="•"/>
            </a:pPr>
            <a:r>
              <a:rPr lang="en-US" sz="3200"/>
              <a:t>Key analyis questions</a:t>
            </a:r>
            <a:endParaRPr lang="en-US" sz="3200"/>
          </a:p>
          <a:p>
            <a:pPr marL="285750" indent="-285750">
              <a:buFont typeface="Arial" panose="020B0604020202020204" pitchFamily="34" charset="0"/>
              <a:buChar char="•"/>
            </a:pPr>
            <a:r>
              <a:rPr lang="en-IN" altLang="en-US" sz="3200"/>
              <a:t>Key Insights</a:t>
            </a:r>
            <a:endParaRPr lang="en-US" sz="3200"/>
          </a:p>
          <a:p>
            <a:pPr marL="285750" indent="-285750">
              <a:buFont typeface="Arial" panose="020B0604020202020204" pitchFamily="34" charset="0"/>
              <a:buChar char="•"/>
            </a:pPr>
            <a:r>
              <a:rPr lang="en-US" sz="3200"/>
              <a:t>Conclusion</a:t>
            </a:r>
            <a:endParaRPr lang="en-US" sz="3200"/>
          </a:p>
          <a:p>
            <a:pPr marL="285750" indent="-285750">
              <a:buFont typeface="Arial" panose="020B0604020202020204" pitchFamily="34" charset="0"/>
              <a:buChar char="•"/>
            </a:pPr>
            <a:r>
              <a:rPr lang="en-US" sz="3200"/>
              <a:t>Experience/Challenges working</a:t>
            </a:r>
            <a:endParaRPr lang="en-US" sz="3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7550" y="714375"/>
            <a:ext cx="10682605" cy="645160"/>
          </a:xfrm>
          <a:prstGeom prst="rect">
            <a:avLst/>
          </a:prstGeom>
          <a:noFill/>
        </p:spPr>
        <p:txBody>
          <a:bodyPr wrap="square">
            <a:spAutoFit/>
          </a:bodyPr>
          <a:lstStyle/>
          <a:p>
            <a:pPr marL="25400" lvl="0">
              <a:lnSpc>
                <a:spcPct val="90000"/>
              </a:lnSpc>
              <a:spcBef>
                <a:spcPts val="1000"/>
              </a:spcBef>
              <a:buSzPts val="2400"/>
            </a:pPr>
            <a:r>
              <a:rPr lang="en-US" altLang="en-IN" sz="4000" b="1" dirty="0">
                <a:solidFill>
                  <a:srgbClr val="FF0000"/>
                </a:solidFill>
                <a:latin typeface="Times New Roman" panose="02020603050405020304" charset="0"/>
                <a:cs typeface="Times New Roman" panose="02020603050405020304" charset="0"/>
              </a:rPr>
              <a:t>Business Problem</a:t>
            </a:r>
            <a:endParaRPr lang="en-US" altLang="en-IN" sz="4000" b="1" dirty="0">
              <a:solidFill>
                <a:srgbClr val="FF0000"/>
              </a:solidFill>
              <a:latin typeface="Times New Roman" panose="02020603050405020304" charset="0"/>
              <a:cs typeface="Times New Roman" panose="02020603050405020304" charset="0"/>
            </a:endParaRPr>
          </a:p>
        </p:txBody>
      </p:sp>
      <p:sp>
        <p:nvSpPr>
          <p:cNvPr id="4" name="Text Box 3"/>
          <p:cNvSpPr txBox="1"/>
          <p:nvPr/>
        </p:nvSpPr>
        <p:spPr>
          <a:xfrm>
            <a:off x="814705" y="1437005"/>
            <a:ext cx="10534015" cy="4131310"/>
          </a:xfrm>
          <a:prstGeom prst="rect">
            <a:avLst/>
          </a:prstGeom>
          <a:noFill/>
        </p:spPr>
        <p:txBody>
          <a:bodyPr wrap="square" rtlCol="0">
            <a:noAutofit/>
          </a:bodyPr>
          <a:p>
            <a:r>
              <a:rPr lang="en-US" altLang="en-US" sz="2400">
                <a:sym typeface="+mn-ea"/>
              </a:rPr>
              <a:t>Management lacks clear visibility into whether employees are being fairly placed, compensated, and promoted based on their experience, qualifications, and job roles.</a:t>
            </a:r>
            <a:endParaRPr lang="en-US" altLang="en-US" sz="2400">
              <a:sym typeface="+mn-ea"/>
            </a:endParaRPr>
          </a:p>
          <a:p>
            <a:endParaRPr lang="en-US" altLang="en-US" sz="2400">
              <a:sym typeface="+mn-ea"/>
            </a:endParaRPr>
          </a:p>
          <a:p>
            <a:r>
              <a:rPr lang="en-US" altLang="en-US" sz="2400">
                <a:sym typeface="+mn-ea"/>
              </a:rPr>
              <a:t>This project analyzes employee data to identify potential issues such as career stagnation, salary disparities, qualification–role mismatches, unequal bonus distribution, and unusual leave patterns, helping HR make better workforce decisions.</a:t>
            </a:r>
            <a:endParaRPr lang="en-US" altLang="en-US" sz="2400">
              <a:sym typeface="+mn-ea"/>
            </a:endParaRPr>
          </a:p>
          <a:p>
            <a:endParaRPr lang="en-US" altLang="en-US" sz="240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7550" y="743585"/>
            <a:ext cx="10401935" cy="3599815"/>
          </a:xfrm>
          <a:prstGeom prst="rect">
            <a:avLst/>
          </a:prstGeom>
          <a:noFill/>
        </p:spPr>
        <p:txBody>
          <a:bodyPr wrap="square">
            <a:spAutoFit/>
          </a:bodyPr>
          <a:lstStyle/>
          <a:p>
            <a:pPr marL="25400" lvl="0" algn="l">
              <a:lnSpc>
                <a:spcPct val="90000"/>
              </a:lnSpc>
              <a:spcBef>
                <a:spcPts val="1000"/>
              </a:spcBef>
              <a:buSzPts val="2400"/>
            </a:pPr>
            <a:r>
              <a:rPr lang="en-IN" sz="4000" b="1" dirty="0">
                <a:solidFill>
                  <a:srgbClr val="FF0000"/>
                </a:solidFill>
                <a:latin typeface="Times New Roman" panose="02020603050405020304" charset="0"/>
                <a:cs typeface="Times New Roman" panose="02020603050405020304" charset="0"/>
              </a:rPr>
              <a:t>Objectiv</a:t>
            </a:r>
            <a:r>
              <a:rPr lang="en-US" altLang="en-IN" sz="4000" b="1" dirty="0">
                <a:solidFill>
                  <a:srgbClr val="FF0000"/>
                </a:solidFill>
                <a:latin typeface="Times New Roman" panose="02020603050405020304" charset="0"/>
                <a:cs typeface="Times New Roman" panose="02020603050405020304" charset="0"/>
              </a:rPr>
              <a:t>e</a:t>
            </a:r>
            <a:r>
              <a:rPr lang="en-IN" sz="4000" b="1" dirty="0">
                <a:solidFill>
                  <a:srgbClr val="FF0000"/>
                </a:solidFill>
                <a:latin typeface="Times New Roman" panose="02020603050405020304" charset="0"/>
                <a:cs typeface="Times New Roman" panose="02020603050405020304" charset="0"/>
              </a:rPr>
              <a:t> of the Project</a:t>
            </a:r>
            <a:endParaRPr lang="en-IN" sz="4000" b="1" dirty="0">
              <a:solidFill>
                <a:srgbClr val="FF0000"/>
              </a:solidFill>
              <a:latin typeface="Times New Roman" panose="02020603050405020304" charset="0"/>
              <a:cs typeface="Times New Roman" panose="02020603050405020304" charset="0"/>
            </a:endParaRPr>
          </a:p>
          <a:p>
            <a:pPr algn="l"/>
            <a:endParaRPr lang="en-US" sz="2400" dirty="0"/>
          </a:p>
          <a:p>
            <a:pPr marL="342900" indent="-342900">
              <a:buFont typeface="Arial" panose="020B0604020202020204" pitchFamily="34" charset="0"/>
              <a:buChar char="•"/>
            </a:pPr>
            <a:r>
              <a:rPr lang="en-US" altLang="en-US" sz="2400" dirty="0"/>
              <a:t>Analyze employee experience, salary, qualifications, leave patterns, and raise history to identify career stagnation, salary disparities, and role mismatches.</a:t>
            </a:r>
            <a:endParaRPr lang="en-US" altLang="en-US" sz="2400" dirty="0"/>
          </a:p>
          <a:p>
            <a:pPr marL="342900" indent="-342900">
              <a:buFont typeface="Arial" panose="020B0604020202020204" pitchFamily="34" charset="0"/>
              <a:buChar char="•"/>
            </a:pPr>
            <a:endParaRPr lang="en-US" altLang="en-US" sz="2400" dirty="0"/>
          </a:p>
          <a:p>
            <a:pPr marL="342900" indent="-342900">
              <a:buFont typeface="Arial" panose="020B0604020202020204" pitchFamily="34" charset="0"/>
              <a:buChar char="•"/>
            </a:pPr>
            <a:r>
              <a:rPr lang="en-US" altLang="en-US" sz="2400" dirty="0"/>
              <a:t>Develop a workforce risk score to identify employees who may require HR attention.</a:t>
            </a:r>
            <a:endParaRPr lang="en-US" altLang="en-US" sz="2400" dirty="0"/>
          </a:p>
          <a:p>
            <a:pPr marL="0" indent="0">
              <a:buFont typeface="Arial" panose="020B0604020202020204" pitchFamily="34" charset="0"/>
              <a:buNone/>
            </a:pPr>
            <a:endParaRPr lang="en-US" alt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9120" y="502920"/>
            <a:ext cx="10902950" cy="706755"/>
          </a:xfrm>
          <a:prstGeom prst="rect">
            <a:avLst/>
          </a:prstGeom>
          <a:noFill/>
        </p:spPr>
        <p:txBody>
          <a:bodyPr wrap="square">
            <a:spAutoFit/>
          </a:bodyPr>
          <a:lstStyle/>
          <a:p>
            <a:r>
              <a:rPr lang="en-US" altLang="en-US" sz="4000" b="1" dirty="0">
                <a:solidFill>
                  <a:srgbClr val="FF0000"/>
                </a:solidFill>
                <a:latin typeface="Times New Roman" panose="02020603050405020304" charset="0"/>
                <a:cs typeface="Times New Roman" panose="02020603050405020304" charset="0"/>
              </a:rPr>
              <a:t>ER </a:t>
            </a:r>
            <a:r>
              <a:rPr lang="en-US" altLang="en-US" sz="4000" b="1" dirty="0">
                <a:solidFill>
                  <a:srgbClr val="FF0000"/>
                </a:solidFill>
                <a:latin typeface="Times New Roman" panose="02020603050405020304" charset="0"/>
                <a:cs typeface="Times New Roman" panose="02020603050405020304" charset="0"/>
                <a:sym typeface="+mn-ea"/>
              </a:rPr>
              <a:t>Diagram</a:t>
            </a:r>
            <a:r>
              <a:rPr lang="en-US" altLang="en-US" sz="4000" b="1" dirty="0">
                <a:solidFill>
                  <a:srgbClr val="FF0000"/>
                </a:solidFill>
                <a:latin typeface="Times New Roman" panose="02020603050405020304" charset="0"/>
                <a:cs typeface="Times New Roman" panose="02020603050405020304" charset="0"/>
              </a:rPr>
              <a:t>(Entity</a:t>
            </a:r>
            <a:r>
              <a:rPr lang="en-IN" altLang="en-US" sz="4000" b="1" dirty="0">
                <a:solidFill>
                  <a:srgbClr val="FF0000"/>
                </a:solidFill>
                <a:latin typeface="Times New Roman" panose="02020603050405020304" charset="0"/>
                <a:cs typeface="Times New Roman" panose="02020603050405020304" charset="0"/>
              </a:rPr>
              <a:t> </a:t>
            </a:r>
            <a:r>
              <a:rPr lang="en-US" altLang="en-US" sz="4000" b="1" dirty="0">
                <a:solidFill>
                  <a:srgbClr val="FF0000"/>
                </a:solidFill>
                <a:latin typeface="Times New Roman" panose="02020603050405020304" charset="0"/>
                <a:cs typeface="Times New Roman" panose="02020603050405020304" charset="0"/>
              </a:rPr>
              <a:t>Relationship</a:t>
            </a:r>
            <a:r>
              <a:rPr lang="en-IN" altLang="en-US" sz="4000" b="1" dirty="0">
                <a:solidFill>
                  <a:srgbClr val="FF0000"/>
                </a:solidFill>
                <a:latin typeface="Times New Roman" panose="02020603050405020304" charset="0"/>
                <a:cs typeface="Times New Roman" panose="02020603050405020304" charset="0"/>
              </a:rPr>
              <a:t> Diagram</a:t>
            </a:r>
            <a:r>
              <a:rPr lang="en-US" altLang="en-US" sz="4000" b="1" dirty="0">
                <a:solidFill>
                  <a:srgbClr val="FF0000"/>
                </a:solidFill>
              </a:rPr>
              <a:t>) </a:t>
            </a:r>
            <a:endParaRPr lang="en-US" altLang="en-US" sz="4000" b="1" dirty="0">
              <a:solidFill>
                <a:srgbClr val="FF0000"/>
              </a:solidFill>
            </a:endParaRPr>
          </a:p>
        </p:txBody>
      </p:sp>
      <p:sp>
        <p:nvSpPr>
          <p:cNvPr id="7" name="TextBox 6"/>
          <p:cNvSpPr txBox="1"/>
          <p:nvPr/>
        </p:nvSpPr>
        <p:spPr>
          <a:xfrm>
            <a:off x="579120" y="1209675"/>
            <a:ext cx="11064875" cy="981710"/>
          </a:xfrm>
          <a:prstGeom prst="rect">
            <a:avLst/>
          </a:prstGeom>
          <a:noFill/>
        </p:spPr>
        <p:txBody>
          <a:bodyPr wrap="square">
            <a:noAutofit/>
          </a:bodyPr>
          <a:lstStyle/>
          <a:p>
            <a:pPr indent="457200" algn="just">
              <a:lnSpc>
                <a:spcPct val="150000"/>
              </a:lnSpc>
            </a:pPr>
            <a:r>
              <a:rPr lang="en-US" altLang="en-US" sz="1600" dirty="0"/>
              <a:t>The Employee table acts as the central entity and is connected to the Department, Salary, Leave, Qualification, and Payroll tables through foreign keys.</a:t>
            </a:r>
            <a:endParaRPr lang="en-US" altLang="en-US" sz="1600" dirty="0"/>
          </a:p>
        </p:txBody>
      </p:sp>
      <p:pic>
        <p:nvPicPr>
          <p:cNvPr id="2" name="Picture 1"/>
          <p:cNvPicPr>
            <a:picLocks noChangeAspect="1"/>
          </p:cNvPicPr>
          <p:nvPr/>
        </p:nvPicPr>
        <p:blipFill>
          <a:blip r:embed="rId1"/>
          <a:stretch>
            <a:fillRect/>
          </a:stretch>
        </p:blipFill>
        <p:spPr>
          <a:xfrm>
            <a:off x="3092450" y="2098040"/>
            <a:ext cx="4241165" cy="45288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7550" y="530225"/>
            <a:ext cx="10401935" cy="4707890"/>
          </a:xfrm>
          <a:prstGeom prst="rect">
            <a:avLst/>
          </a:prstGeom>
          <a:noFill/>
        </p:spPr>
        <p:txBody>
          <a:bodyPr wrap="square">
            <a:spAutoFit/>
          </a:bodyPr>
          <a:lstStyle/>
          <a:p>
            <a:pPr marL="25400" lvl="0" algn="l">
              <a:lnSpc>
                <a:spcPct val="90000"/>
              </a:lnSpc>
              <a:spcBef>
                <a:spcPts val="1000"/>
              </a:spcBef>
              <a:buSzPts val="2400"/>
            </a:pPr>
            <a:r>
              <a:rPr lang="en-US" sz="4000" b="1" dirty="0">
                <a:solidFill>
                  <a:srgbClr val="FF0000"/>
                </a:solidFill>
                <a:latin typeface="Times New Roman" panose="02020603050405020304" charset="0"/>
                <a:cs typeface="Times New Roman" panose="02020603050405020304" charset="0"/>
              </a:rPr>
              <a:t>Key analysis questions</a:t>
            </a:r>
            <a:endParaRPr lang="en-IN" sz="4000" b="1" dirty="0">
              <a:solidFill>
                <a:srgbClr val="FF0000"/>
              </a:solidFill>
              <a:latin typeface="Times New Roman" panose="02020603050405020304" charset="0"/>
              <a:cs typeface="Times New Roman" panose="02020603050405020304" charset="0"/>
            </a:endParaRPr>
          </a:p>
          <a:p>
            <a:pPr algn="l"/>
            <a:endParaRPr lang="en-US" altLang="en-US" sz="2400" dirty="0"/>
          </a:p>
          <a:p>
            <a:pPr marL="457200" indent="-457200">
              <a:buFont typeface="+mj-lt"/>
              <a:buAutoNum type="arabicPeriod"/>
            </a:pPr>
            <a:r>
              <a:rPr lang="en-US" altLang="en-US" sz="2000" dirty="0"/>
              <a:t>Which employees have been with the organization for 5 or more years but are still in Junior or Mid-level roles?</a:t>
            </a:r>
            <a:endParaRPr lang="en-US" altLang="en-US" sz="2000" dirty="0"/>
          </a:p>
          <a:p>
            <a:pPr marL="457200" indent="-457200">
              <a:buFont typeface="+mj-lt"/>
              <a:buAutoNum type="arabicPeriod"/>
            </a:pPr>
            <a:r>
              <a:rPr lang="en-US" altLang="en-US" sz="2000" dirty="0"/>
              <a:t>Which employees are earning a monthly salary below the average salary of their respective department?</a:t>
            </a:r>
            <a:endParaRPr lang="en-US" altLang="en-US" sz="2000" dirty="0"/>
          </a:p>
          <a:p>
            <a:pPr marL="457200" indent="-457200">
              <a:buFont typeface="+mj-lt"/>
              <a:buAutoNum type="arabicPeriod"/>
            </a:pPr>
            <a:r>
              <a:rPr lang="en-US" altLang="en-US" sz="2000" dirty="0"/>
              <a:t>Which departments have the largest salary gap between the lowest-paid and highest-paid employees?</a:t>
            </a:r>
            <a:endParaRPr lang="en-US" altLang="en-US" sz="2000" dirty="0"/>
          </a:p>
          <a:p>
            <a:pPr marL="457200" indent="-457200">
              <a:buFont typeface="+mj-lt"/>
              <a:buAutoNum type="arabicPeriod"/>
            </a:pPr>
            <a:r>
              <a:rPr lang="en-US" altLang="en-US" sz="2000" dirty="0"/>
              <a:t>Which employees appear to have a mismatch between their educational qualification and current role level, such as highly qualified employees in lower roles or less-qualified employees in senior roles?</a:t>
            </a:r>
            <a:endParaRPr lang="en-US" altLang="en-US" sz="2000" dirty="0"/>
          </a:p>
          <a:p>
            <a:pPr marL="457200" indent="-457200">
              <a:buFont typeface="+mj-lt"/>
              <a:buAutoNum type="arabicPeriod"/>
            </a:pPr>
            <a:r>
              <a:rPr lang="en-US" altLang="en-US" sz="2000" dirty="0"/>
              <a:t>Which employees have taken the highest number of leaves and total leave days?</a:t>
            </a:r>
            <a:endParaRPr lang="en-US" altLang="en-US" sz="2000" dirty="0"/>
          </a:p>
          <a:p>
            <a:pPr marL="457200" indent="-457200">
              <a:buFont typeface="+mj-lt"/>
              <a:buAutoNum type="arabicPeriod"/>
            </a:pPr>
            <a:r>
              <a:rPr lang="en-US" altLang="en-US" sz="2000" dirty="0"/>
              <a:t>Which employees have the highest risk score based on career stagnation, below-department-average salary, and absence of salary raises?</a:t>
            </a:r>
            <a:endParaRPr lang="en-US" alt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78180" y="-135890"/>
            <a:ext cx="11064240" cy="6224270"/>
          </a:xfrm>
          <a:prstGeom prst="rect">
            <a:avLst/>
          </a:prstGeom>
          <a:noFill/>
        </p:spPr>
        <p:txBody>
          <a:bodyPr wrap="square">
            <a:noAutofit/>
          </a:bodyPr>
          <a:lstStyle/>
          <a:p>
            <a:pPr rtl="0">
              <a:lnSpc>
                <a:spcPct val="100000"/>
              </a:lnSpc>
              <a:spcBef>
                <a:spcPts val="1400"/>
              </a:spcBef>
              <a:spcAft>
                <a:spcPts val="400"/>
              </a:spcAft>
              <a:buNone/>
            </a:pPr>
            <a:r>
              <a:rPr lang="en-US" sz="2000" b="1" i="0" u="none" strike="noStrike" dirty="0">
                <a:solidFill>
                  <a:srgbClr val="000000"/>
                </a:solidFill>
                <a:effectLst/>
                <a:latin typeface="Arial" panose="020B0604020202020204" pitchFamily="34" charset="0"/>
              </a:rPr>
              <a:t>                     </a:t>
            </a: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endParaRPr>
          </a:p>
          <a:p>
            <a:pPr rtl="0" fontAlgn="base">
              <a:spcBef>
                <a:spcPts val="1200"/>
              </a:spcBef>
              <a:spcAft>
                <a:spcPts val="1200"/>
              </a:spcAft>
            </a:pPr>
            <a:endParaRPr lang="en-IN" altLang="en-US" sz="1200" b="1" dirty="0">
              <a:effectLst/>
              <a:latin typeface="Arial" panose="020B0604020202020204" pitchFamily="34" charset="0"/>
              <a:sym typeface="+mn-ea"/>
            </a:endParaRPr>
          </a:p>
          <a:p>
            <a:pPr rtl="0" fontAlgn="base">
              <a:spcBef>
                <a:spcPts val="1200"/>
              </a:spcBef>
              <a:spcAft>
                <a:spcPts val="1200"/>
              </a:spcAft>
            </a:pPr>
            <a:endParaRPr lang="en-US" altLang="en-US" sz="1200" dirty="0"/>
          </a:p>
          <a:p>
            <a:pPr fontAlgn="base">
              <a:lnSpc>
                <a:spcPct val="150000"/>
              </a:lnSpc>
              <a:spcBef>
                <a:spcPts val="1200"/>
              </a:spcBef>
              <a:spcAft>
                <a:spcPts val="1200"/>
              </a:spcAft>
            </a:pPr>
            <a:endParaRPr lang="en-IN" altLang="en-US" sz="2000"/>
          </a:p>
          <a:p>
            <a:pPr fontAlgn="base">
              <a:lnSpc>
                <a:spcPct val="150000"/>
              </a:lnSpc>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sym typeface="+mn-ea"/>
            </a:endParaRPr>
          </a:p>
          <a:p>
            <a:pPr indent="457200" rtl="0" fontAlgn="base">
              <a:spcBef>
                <a:spcPts val="1200"/>
              </a:spcBef>
              <a:spcAft>
                <a:spcPts val="1200"/>
              </a:spcAft>
            </a:pPr>
            <a:br>
              <a:rPr lang="en-US" sz="1400" b="0" i="0" u="none" strike="noStrike" dirty="0">
                <a:solidFill>
                  <a:srgbClr val="000000"/>
                </a:solidFill>
                <a:effectLst/>
                <a:latin typeface="Arial" panose="020B0604020202020204" pitchFamily="34" charset="0"/>
              </a:rPr>
            </a:br>
            <a:br>
              <a:rPr lang="en-US" sz="1400" b="0" i="0" u="none" strike="noStrike" dirty="0">
                <a:solidFill>
                  <a:srgbClr val="000000"/>
                </a:solidFill>
                <a:effectLst/>
                <a:latin typeface="Arial" panose="020B0604020202020204" pitchFamily="34" charset="0"/>
              </a:rPr>
            </a:br>
            <a:endParaRPr lang="en-US" sz="1400" b="0" i="0" u="none" strike="noStrike" dirty="0">
              <a:solidFill>
                <a:srgbClr val="000000"/>
              </a:solidFill>
              <a:effectLst/>
              <a:latin typeface="Arial" panose="020B0604020202020204" pitchFamily="34" charset="0"/>
            </a:endParaRPr>
          </a:p>
        </p:txBody>
      </p:sp>
      <p:sp>
        <p:nvSpPr>
          <p:cNvPr id="4" name="Text Box 3"/>
          <p:cNvSpPr txBox="1"/>
          <p:nvPr/>
        </p:nvSpPr>
        <p:spPr>
          <a:xfrm>
            <a:off x="1118870" y="2112010"/>
            <a:ext cx="1630045" cy="368300"/>
          </a:xfrm>
          <a:prstGeom prst="rect">
            <a:avLst/>
          </a:prstGeom>
          <a:noFill/>
        </p:spPr>
        <p:txBody>
          <a:bodyPr wrap="square" rtlCol="0">
            <a:spAutoFit/>
          </a:bodyPr>
          <a:p>
            <a:r>
              <a:rPr lang="en-US" altLang="en-IN" sz="1800" b="1"/>
              <a:t>Output :</a:t>
            </a:r>
            <a:endParaRPr lang="en-US" altLang="en-IN" sz="1800" b="1"/>
          </a:p>
        </p:txBody>
      </p:sp>
      <p:sp>
        <p:nvSpPr>
          <p:cNvPr id="12" name="Text Box 11"/>
          <p:cNvSpPr txBox="1"/>
          <p:nvPr/>
        </p:nvSpPr>
        <p:spPr>
          <a:xfrm>
            <a:off x="988060" y="554990"/>
            <a:ext cx="10045700" cy="953135"/>
          </a:xfrm>
          <a:prstGeom prst="rect">
            <a:avLst/>
          </a:prstGeom>
          <a:noFill/>
        </p:spPr>
        <p:txBody>
          <a:bodyPr wrap="square" rtlCol="0">
            <a:spAutoFit/>
          </a:bodyPr>
          <a:p>
            <a:r>
              <a:rPr lang="en-IN" sz="2800" b="1" dirty="0">
                <a:latin typeface="Calibri" panose="020F0502020204030204" charset="0"/>
                <a:cs typeface="Calibri" panose="020F0502020204030204" charset="0"/>
                <a:sym typeface="+mn-ea"/>
              </a:rPr>
              <a:t>1. W</a:t>
            </a:r>
            <a:r>
              <a:rPr lang="en-US" sz="2800" b="1" dirty="0">
                <a:latin typeface="Calibri" panose="020F0502020204030204" charset="0"/>
                <a:cs typeface="Calibri" panose="020F0502020204030204" charset="0"/>
                <a:sym typeface="+mn-ea"/>
              </a:rPr>
              <a:t>rite </a:t>
            </a:r>
            <a:r>
              <a:rPr lang="en-US" altLang="en-US" sz="2800" b="1" dirty="0">
                <a:latin typeface="Calibri" panose="020F0502020204030204" charset="0"/>
                <a:cs typeface="Calibri" panose="020F0502020204030204" charset="0"/>
                <a:sym typeface="+mn-ea"/>
              </a:rPr>
              <a:t>employees have been with the organization for 5 or more    years but are still in Junior or Mid-level roles?</a:t>
            </a:r>
            <a:r>
              <a:rPr lang="en-US" b="1" dirty="0">
                <a:effectLst/>
                <a:latin typeface="Calibri" panose="020F0502020204030204" charset="0"/>
                <a:cs typeface="Calibri" panose="020F0502020204030204" charset="0"/>
                <a:sym typeface="+mn-ea"/>
              </a:rPr>
              <a:t>  </a:t>
            </a:r>
            <a:endParaRPr lang="en-US">
              <a:latin typeface="Calibri" panose="020F0502020204030204" charset="0"/>
              <a:cs typeface="Calibri" panose="020F0502020204030204" charset="0"/>
            </a:endParaRPr>
          </a:p>
        </p:txBody>
      </p:sp>
      <p:sp>
        <p:nvSpPr>
          <p:cNvPr id="13" name="Text Box 12"/>
          <p:cNvSpPr txBox="1"/>
          <p:nvPr/>
        </p:nvSpPr>
        <p:spPr>
          <a:xfrm>
            <a:off x="751840" y="3686175"/>
            <a:ext cx="10628630" cy="991235"/>
          </a:xfrm>
          <a:prstGeom prst="rect">
            <a:avLst/>
          </a:prstGeom>
          <a:noFill/>
        </p:spPr>
        <p:txBody>
          <a:bodyPr wrap="square" rtlCol="0">
            <a:noAutofit/>
          </a:bodyPr>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altLang="en-US" sz="1200" dirty="0">
              <a:effectLst/>
              <a:latin typeface="Arial" panose="020B0604020202020204" pitchFamily="34" charset="0"/>
              <a:sym typeface="+mn-ea"/>
            </a:endParaRPr>
          </a:p>
          <a:p>
            <a:endParaRPr lang="en-US" altLang="en-US" sz="1200" dirty="0">
              <a:effectLst/>
              <a:latin typeface="Arial" panose="020B0604020202020204" pitchFamily="34" charset="0"/>
              <a:sym typeface="+mn-ea"/>
            </a:endParaRPr>
          </a:p>
          <a:p>
            <a:r>
              <a:rPr lang="en-US" altLang="en-US" sz="1200" dirty="0">
                <a:effectLst/>
                <a:latin typeface="Arial" panose="020B0604020202020204" pitchFamily="34" charset="0"/>
                <a:sym typeface="+mn-ea"/>
              </a:rPr>
              <a:t>.</a:t>
            </a:r>
            <a:endParaRPr lang="en-US" altLang="en-US" sz="1200" b="0" i="0" u="none" strike="noStrike" dirty="0">
              <a:solidFill>
                <a:srgbClr val="000000"/>
              </a:solidFill>
              <a:effectLst/>
              <a:latin typeface="Arial" panose="020B0604020202020204" pitchFamily="34" charset="0"/>
            </a:endParaRPr>
          </a:p>
          <a:p>
            <a:endParaRPr lang="en-US" sz="1200"/>
          </a:p>
        </p:txBody>
      </p:sp>
      <p:sp>
        <p:nvSpPr>
          <p:cNvPr id="2" name="Text Box 1"/>
          <p:cNvSpPr txBox="1"/>
          <p:nvPr/>
        </p:nvSpPr>
        <p:spPr>
          <a:xfrm>
            <a:off x="1118870" y="4913630"/>
            <a:ext cx="10210800" cy="1630045"/>
          </a:xfrm>
          <a:prstGeom prst="rect">
            <a:avLst/>
          </a:prstGeom>
          <a:noFill/>
        </p:spPr>
        <p:txBody>
          <a:bodyPr wrap="square" rtlCol="0">
            <a:spAutoFit/>
          </a:bodyPr>
          <a:p>
            <a:endParaRPr lang="en-US" sz="1800" b="1" dirty="0">
              <a:latin typeface="Arial" panose="020B0604020202020204" pitchFamily="34" charset="0"/>
              <a:sym typeface="+mn-ea"/>
            </a:endParaRPr>
          </a:p>
          <a:p>
            <a:r>
              <a:rPr lang="en-US" sz="1800" b="1" dirty="0">
                <a:latin typeface="Arial" panose="020B0604020202020204" pitchFamily="34" charset="0"/>
                <a:sym typeface="+mn-ea"/>
              </a:rPr>
              <a:t>Observation:</a:t>
            </a:r>
            <a:endParaRPr lang="en-US" sz="1800" b="1" dirty="0">
              <a:latin typeface="Arial" panose="020B0604020202020204" pitchFamily="34" charset="0"/>
              <a:sym typeface="+mn-ea"/>
            </a:endParaRPr>
          </a:p>
          <a:p>
            <a:r>
              <a:rPr lang="en-US" altLang="en-US" sz="1800" dirty="0">
                <a:effectLst/>
                <a:latin typeface="Arial" panose="020B0604020202020204" pitchFamily="34" charset="0"/>
                <a:sym typeface="+mn-ea"/>
              </a:rPr>
              <a:t>The query retrieves all employee profiles for individuals who have been with the organization for 5 or more years and are currently holding Junior or Mid-level roles.</a:t>
            </a:r>
            <a:endParaRPr lang="en-US" altLang="en-US" sz="1800" dirty="0">
              <a:effectLst/>
              <a:latin typeface="Arial" panose="020B0604020202020204" pitchFamily="34" charset="0"/>
              <a:sym typeface="+mn-ea"/>
            </a:endParaRPr>
          </a:p>
          <a:p>
            <a:endParaRPr lang="en-US"/>
          </a:p>
          <a:p>
            <a:endParaRPr lang="en-US"/>
          </a:p>
        </p:txBody>
      </p:sp>
      <p:pic>
        <p:nvPicPr>
          <p:cNvPr id="5" name="Picture 4"/>
          <p:cNvPicPr>
            <a:picLocks noChangeAspect="1"/>
          </p:cNvPicPr>
          <p:nvPr/>
        </p:nvPicPr>
        <p:blipFill>
          <a:blip r:embed="rId1"/>
          <a:stretch>
            <a:fillRect/>
          </a:stretch>
        </p:blipFill>
        <p:spPr>
          <a:xfrm>
            <a:off x="1118870" y="1508125"/>
            <a:ext cx="5447665" cy="603885"/>
          </a:xfrm>
          <a:prstGeom prst="rect">
            <a:avLst/>
          </a:prstGeom>
        </p:spPr>
      </p:pic>
      <p:pic>
        <p:nvPicPr>
          <p:cNvPr id="6" name="Picture 5"/>
          <p:cNvPicPr>
            <a:picLocks noChangeAspect="1"/>
          </p:cNvPicPr>
          <p:nvPr/>
        </p:nvPicPr>
        <p:blipFill>
          <a:blip r:embed="rId2"/>
          <a:stretch>
            <a:fillRect/>
          </a:stretch>
        </p:blipFill>
        <p:spPr>
          <a:xfrm>
            <a:off x="1706880" y="2522855"/>
            <a:ext cx="4271010" cy="26898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78180" y="-135890"/>
            <a:ext cx="11064240" cy="6224270"/>
          </a:xfrm>
          <a:prstGeom prst="rect">
            <a:avLst/>
          </a:prstGeom>
          <a:noFill/>
        </p:spPr>
        <p:txBody>
          <a:bodyPr wrap="square">
            <a:noAutofit/>
          </a:bodyPr>
          <a:lstStyle/>
          <a:p>
            <a:pPr rtl="0">
              <a:lnSpc>
                <a:spcPct val="100000"/>
              </a:lnSpc>
              <a:spcBef>
                <a:spcPts val="1400"/>
              </a:spcBef>
              <a:spcAft>
                <a:spcPts val="400"/>
              </a:spcAft>
              <a:buNone/>
            </a:pPr>
            <a:r>
              <a:rPr lang="en-US" sz="2000" b="1" i="0" u="none" strike="noStrike" dirty="0">
                <a:solidFill>
                  <a:srgbClr val="000000"/>
                </a:solidFill>
                <a:effectLst/>
                <a:latin typeface="Arial" panose="020B0604020202020204" pitchFamily="34" charset="0"/>
              </a:rPr>
              <a:t>                     </a:t>
            </a: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endParaRPr>
          </a:p>
          <a:p>
            <a:pPr rtl="0" fontAlgn="base">
              <a:spcBef>
                <a:spcPts val="1200"/>
              </a:spcBef>
              <a:spcAft>
                <a:spcPts val="1200"/>
              </a:spcAft>
            </a:pPr>
            <a:endParaRPr lang="en-IN" altLang="en-US" sz="1200" b="1" dirty="0">
              <a:effectLst/>
              <a:latin typeface="Arial" panose="020B0604020202020204" pitchFamily="34" charset="0"/>
              <a:sym typeface="+mn-ea"/>
            </a:endParaRPr>
          </a:p>
          <a:p>
            <a:pPr rtl="0" fontAlgn="base">
              <a:spcBef>
                <a:spcPts val="1200"/>
              </a:spcBef>
              <a:spcAft>
                <a:spcPts val="1200"/>
              </a:spcAft>
            </a:pPr>
            <a:endParaRPr lang="en-US" altLang="en-US" sz="1200" dirty="0"/>
          </a:p>
          <a:p>
            <a:pPr fontAlgn="base">
              <a:lnSpc>
                <a:spcPct val="150000"/>
              </a:lnSpc>
              <a:spcBef>
                <a:spcPts val="1200"/>
              </a:spcBef>
              <a:spcAft>
                <a:spcPts val="1200"/>
              </a:spcAft>
            </a:pPr>
            <a:endParaRPr lang="en-IN" altLang="en-US" sz="2000"/>
          </a:p>
          <a:p>
            <a:pPr fontAlgn="base">
              <a:lnSpc>
                <a:spcPct val="150000"/>
              </a:lnSpc>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sym typeface="+mn-ea"/>
            </a:endParaRPr>
          </a:p>
          <a:p>
            <a:pPr indent="457200" rtl="0" fontAlgn="base">
              <a:spcBef>
                <a:spcPts val="1200"/>
              </a:spcBef>
              <a:spcAft>
                <a:spcPts val="1200"/>
              </a:spcAft>
            </a:pPr>
            <a:br>
              <a:rPr lang="en-US" sz="1400" b="0" i="0" u="none" strike="noStrike" dirty="0">
                <a:solidFill>
                  <a:srgbClr val="000000"/>
                </a:solidFill>
                <a:effectLst/>
                <a:latin typeface="Arial" panose="020B0604020202020204" pitchFamily="34" charset="0"/>
              </a:rPr>
            </a:br>
            <a:br>
              <a:rPr lang="en-US" sz="1400" b="0" i="0" u="none" strike="noStrike" dirty="0">
                <a:solidFill>
                  <a:srgbClr val="000000"/>
                </a:solidFill>
                <a:effectLst/>
                <a:latin typeface="Arial" panose="020B0604020202020204" pitchFamily="34" charset="0"/>
              </a:rPr>
            </a:br>
            <a:endParaRPr lang="en-US" sz="1400" b="0" i="0" u="none" strike="noStrike" dirty="0">
              <a:solidFill>
                <a:srgbClr val="000000"/>
              </a:solidFill>
              <a:effectLst/>
              <a:latin typeface="Arial" panose="020B0604020202020204" pitchFamily="34" charset="0"/>
            </a:endParaRPr>
          </a:p>
        </p:txBody>
      </p:sp>
      <p:sp>
        <p:nvSpPr>
          <p:cNvPr id="4" name="Text Box 3"/>
          <p:cNvSpPr txBox="1"/>
          <p:nvPr/>
        </p:nvSpPr>
        <p:spPr>
          <a:xfrm>
            <a:off x="988060" y="2145665"/>
            <a:ext cx="1630045" cy="368300"/>
          </a:xfrm>
          <a:prstGeom prst="rect">
            <a:avLst/>
          </a:prstGeom>
          <a:noFill/>
        </p:spPr>
        <p:txBody>
          <a:bodyPr wrap="square" rtlCol="0">
            <a:spAutoFit/>
          </a:bodyPr>
          <a:p>
            <a:r>
              <a:rPr lang="en-US" altLang="en-IN" sz="1800" b="1"/>
              <a:t>Output :</a:t>
            </a:r>
            <a:endParaRPr lang="en-US" altLang="en-IN" sz="1800" b="1"/>
          </a:p>
        </p:txBody>
      </p:sp>
      <p:sp>
        <p:nvSpPr>
          <p:cNvPr id="12" name="Text Box 11"/>
          <p:cNvSpPr txBox="1"/>
          <p:nvPr/>
        </p:nvSpPr>
        <p:spPr>
          <a:xfrm>
            <a:off x="988060" y="554990"/>
            <a:ext cx="10461625" cy="953135"/>
          </a:xfrm>
          <a:prstGeom prst="rect">
            <a:avLst/>
          </a:prstGeom>
          <a:noFill/>
        </p:spPr>
        <p:txBody>
          <a:bodyPr wrap="square" rtlCol="0">
            <a:spAutoFit/>
          </a:bodyPr>
          <a:p>
            <a:r>
              <a:rPr lang="en-IN" sz="2800" b="1" dirty="0">
                <a:latin typeface="Calibri" panose="020F0502020204030204" charset="0"/>
                <a:cs typeface="Calibri" panose="020F0502020204030204" charset="0"/>
                <a:sym typeface="+mn-ea"/>
              </a:rPr>
              <a:t>2. W</a:t>
            </a:r>
            <a:r>
              <a:rPr lang="en-US" sz="2800" b="1" dirty="0">
                <a:latin typeface="Calibri" panose="020F0502020204030204" charset="0"/>
                <a:cs typeface="Calibri" panose="020F0502020204030204" charset="0"/>
                <a:sym typeface="+mn-ea"/>
              </a:rPr>
              <a:t>rite </a:t>
            </a:r>
            <a:r>
              <a:rPr lang="en-US" altLang="en-US" sz="2800" b="1" dirty="0">
                <a:latin typeface="Calibri" panose="020F0502020204030204" charset="0"/>
                <a:cs typeface="Calibri" panose="020F0502020204030204" charset="0"/>
                <a:sym typeface="+mn-ea"/>
              </a:rPr>
              <a:t>employees are earning a monthly salary below the average salary of their respective department?</a:t>
            </a:r>
            <a:endParaRPr lang="en-US" altLang="en-US" sz="2800" b="1" dirty="0">
              <a:latin typeface="Calibri" panose="020F0502020204030204" charset="0"/>
              <a:cs typeface="Calibri" panose="020F0502020204030204" charset="0"/>
              <a:sym typeface="+mn-ea"/>
            </a:endParaRPr>
          </a:p>
        </p:txBody>
      </p:sp>
      <p:sp>
        <p:nvSpPr>
          <p:cNvPr id="13" name="Text Box 12"/>
          <p:cNvSpPr txBox="1"/>
          <p:nvPr/>
        </p:nvSpPr>
        <p:spPr>
          <a:xfrm>
            <a:off x="751840" y="3686175"/>
            <a:ext cx="10628630" cy="991235"/>
          </a:xfrm>
          <a:prstGeom prst="rect">
            <a:avLst/>
          </a:prstGeom>
          <a:noFill/>
        </p:spPr>
        <p:txBody>
          <a:bodyPr wrap="square" rtlCol="0">
            <a:noAutofit/>
          </a:bodyPr>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altLang="en-US" sz="1200" dirty="0">
              <a:effectLst/>
              <a:latin typeface="Arial" panose="020B0604020202020204" pitchFamily="34" charset="0"/>
              <a:sym typeface="+mn-ea"/>
            </a:endParaRPr>
          </a:p>
          <a:p>
            <a:endParaRPr lang="en-US" altLang="en-US" sz="1200" dirty="0">
              <a:effectLst/>
              <a:latin typeface="Arial" panose="020B0604020202020204" pitchFamily="34" charset="0"/>
              <a:sym typeface="+mn-ea"/>
            </a:endParaRPr>
          </a:p>
          <a:p>
            <a:r>
              <a:rPr lang="en-US" altLang="en-US" sz="1200" dirty="0">
                <a:effectLst/>
                <a:latin typeface="Arial" panose="020B0604020202020204" pitchFamily="34" charset="0"/>
                <a:sym typeface="+mn-ea"/>
              </a:rPr>
              <a:t>.</a:t>
            </a:r>
            <a:endParaRPr lang="en-US" altLang="en-US" sz="1200" b="0" i="0" u="none" strike="noStrike" dirty="0">
              <a:solidFill>
                <a:srgbClr val="000000"/>
              </a:solidFill>
              <a:effectLst/>
              <a:latin typeface="Arial" panose="020B0604020202020204" pitchFamily="34" charset="0"/>
            </a:endParaRPr>
          </a:p>
          <a:p>
            <a:endParaRPr lang="en-US" sz="1200"/>
          </a:p>
        </p:txBody>
      </p:sp>
      <p:sp>
        <p:nvSpPr>
          <p:cNvPr id="2" name="Text Box 1"/>
          <p:cNvSpPr txBox="1"/>
          <p:nvPr/>
        </p:nvSpPr>
        <p:spPr>
          <a:xfrm>
            <a:off x="988060" y="4913630"/>
            <a:ext cx="10462260" cy="1630045"/>
          </a:xfrm>
          <a:prstGeom prst="rect">
            <a:avLst/>
          </a:prstGeom>
          <a:noFill/>
        </p:spPr>
        <p:txBody>
          <a:bodyPr wrap="square" rtlCol="0">
            <a:spAutoFit/>
          </a:bodyPr>
          <a:p>
            <a:endParaRPr lang="en-US" sz="1800" b="1" dirty="0">
              <a:latin typeface="Arial" panose="020B0604020202020204" pitchFamily="34" charset="0"/>
              <a:sym typeface="+mn-ea"/>
            </a:endParaRPr>
          </a:p>
          <a:p>
            <a:r>
              <a:rPr lang="en-US" sz="1800" b="1" dirty="0">
                <a:latin typeface="Arial" panose="020B0604020202020204" pitchFamily="34" charset="0"/>
                <a:sym typeface="+mn-ea"/>
              </a:rPr>
              <a:t>Observation:</a:t>
            </a:r>
            <a:endParaRPr lang="en-US" sz="1800" b="1" dirty="0">
              <a:latin typeface="Arial" panose="020B0604020202020204" pitchFamily="34" charset="0"/>
              <a:sym typeface="+mn-ea"/>
            </a:endParaRPr>
          </a:p>
          <a:p>
            <a:r>
              <a:rPr lang="en-US" altLang="en-US" sz="1800" dirty="0">
                <a:effectLst/>
                <a:latin typeface="Arial" panose="020B0604020202020204" pitchFamily="34" charset="0"/>
                <a:sym typeface="+mn-ea"/>
              </a:rPr>
              <a:t>The query retrieves employee details for individuals whose monthly salary is lower than the average monthly salary of their respective department using a correlated subquery.</a:t>
            </a:r>
            <a:endParaRPr lang="en-US" altLang="en-US" sz="1800" dirty="0">
              <a:effectLst/>
              <a:latin typeface="Arial" panose="020B0604020202020204" pitchFamily="34" charset="0"/>
              <a:sym typeface="+mn-ea"/>
            </a:endParaRPr>
          </a:p>
          <a:p>
            <a:endParaRPr lang="en-US"/>
          </a:p>
          <a:p>
            <a:endParaRPr lang="en-US"/>
          </a:p>
        </p:txBody>
      </p:sp>
      <p:pic>
        <p:nvPicPr>
          <p:cNvPr id="7" name="Picture 6"/>
          <p:cNvPicPr>
            <a:picLocks noChangeAspect="1"/>
          </p:cNvPicPr>
          <p:nvPr/>
        </p:nvPicPr>
        <p:blipFill>
          <a:blip r:embed="rId1"/>
          <a:stretch>
            <a:fillRect/>
          </a:stretch>
        </p:blipFill>
        <p:spPr>
          <a:xfrm>
            <a:off x="1085850" y="1517015"/>
            <a:ext cx="6734175" cy="628650"/>
          </a:xfrm>
          <a:prstGeom prst="rect">
            <a:avLst/>
          </a:prstGeom>
        </p:spPr>
      </p:pic>
      <p:pic>
        <p:nvPicPr>
          <p:cNvPr id="8" name="Picture 7"/>
          <p:cNvPicPr>
            <a:picLocks noChangeAspect="1"/>
          </p:cNvPicPr>
          <p:nvPr/>
        </p:nvPicPr>
        <p:blipFill>
          <a:blip r:embed="rId2"/>
          <a:stretch>
            <a:fillRect/>
          </a:stretch>
        </p:blipFill>
        <p:spPr>
          <a:xfrm>
            <a:off x="1085850" y="2513965"/>
            <a:ext cx="3053715" cy="26892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78180" y="-135890"/>
            <a:ext cx="11064240" cy="6224270"/>
          </a:xfrm>
          <a:prstGeom prst="rect">
            <a:avLst/>
          </a:prstGeom>
          <a:noFill/>
        </p:spPr>
        <p:txBody>
          <a:bodyPr wrap="square">
            <a:noAutofit/>
          </a:bodyPr>
          <a:lstStyle/>
          <a:p>
            <a:pPr rtl="0">
              <a:lnSpc>
                <a:spcPct val="100000"/>
              </a:lnSpc>
              <a:spcBef>
                <a:spcPts val="1400"/>
              </a:spcBef>
              <a:spcAft>
                <a:spcPts val="400"/>
              </a:spcAft>
              <a:buNone/>
            </a:pPr>
            <a:r>
              <a:rPr lang="en-US" sz="2000" b="1" i="0" u="none" strike="noStrike" dirty="0">
                <a:solidFill>
                  <a:srgbClr val="000000"/>
                </a:solidFill>
                <a:effectLst/>
                <a:latin typeface="Arial" panose="020B0604020202020204" pitchFamily="34" charset="0"/>
              </a:rPr>
              <a:t>                     </a:t>
            </a: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endParaRPr>
          </a:p>
          <a:p>
            <a:pPr rtl="0" fontAlgn="base">
              <a:spcBef>
                <a:spcPts val="1200"/>
              </a:spcBef>
              <a:spcAft>
                <a:spcPts val="1200"/>
              </a:spcAft>
            </a:pPr>
            <a:endParaRPr lang="en-IN" altLang="en-US" sz="1200" b="1" dirty="0">
              <a:effectLst/>
              <a:latin typeface="Arial" panose="020B0604020202020204" pitchFamily="34" charset="0"/>
              <a:sym typeface="+mn-ea"/>
            </a:endParaRPr>
          </a:p>
          <a:p>
            <a:pPr rtl="0" fontAlgn="base">
              <a:spcBef>
                <a:spcPts val="1200"/>
              </a:spcBef>
              <a:spcAft>
                <a:spcPts val="1200"/>
              </a:spcAft>
            </a:pPr>
            <a:endParaRPr lang="en-US" altLang="en-US" sz="1200" dirty="0"/>
          </a:p>
          <a:p>
            <a:pPr fontAlgn="base">
              <a:lnSpc>
                <a:spcPct val="150000"/>
              </a:lnSpc>
              <a:spcBef>
                <a:spcPts val="1200"/>
              </a:spcBef>
              <a:spcAft>
                <a:spcPts val="1200"/>
              </a:spcAft>
            </a:pPr>
            <a:endParaRPr lang="en-IN" altLang="en-US" sz="2000"/>
          </a:p>
          <a:p>
            <a:pPr fontAlgn="base">
              <a:lnSpc>
                <a:spcPct val="150000"/>
              </a:lnSpc>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sym typeface="+mn-ea"/>
            </a:endParaRPr>
          </a:p>
          <a:p>
            <a:pPr indent="457200" rtl="0" fontAlgn="base">
              <a:spcBef>
                <a:spcPts val="1200"/>
              </a:spcBef>
              <a:spcAft>
                <a:spcPts val="1200"/>
              </a:spcAft>
            </a:pPr>
            <a:br>
              <a:rPr lang="en-US" sz="1400" b="0" i="0" u="none" strike="noStrike" dirty="0">
                <a:solidFill>
                  <a:srgbClr val="000000"/>
                </a:solidFill>
                <a:effectLst/>
                <a:latin typeface="Arial" panose="020B0604020202020204" pitchFamily="34" charset="0"/>
              </a:rPr>
            </a:br>
            <a:br>
              <a:rPr lang="en-US" sz="1400" b="0" i="0" u="none" strike="noStrike" dirty="0">
                <a:solidFill>
                  <a:srgbClr val="000000"/>
                </a:solidFill>
                <a:effectLst/>
                <a:latin typeface="Arial" panose="020B0604020202020204" pitchFamily="34" charset="0"/>
              </a:rPr>
            </a:br>
            <a:endParaRPr lang="en-US" sz="1400" b="0" i="0" u="none" strike="noStrike" dirty="0">
              <a:solidFill>
                <a:srgbClr val="000000"/>
              </a:solidFill>
              <a:effectLst/>
              <a:latin typeface="Arial" panose="020B0604020202020204" pitchFamily="34" charset="0"/>
            </a:endParaRPr>
          </a:p>
        </p:txBody>
      </p:sp>
      <p:sp>
        <p:nvSpPr>
          <p:cNvPr id="4" name="Text Box 3"/>
          <p:cNvSpPr txBox="1"/>
          <p:nvPr/>
        </p:nvSpPr>
        <p:spPr>
          <a:xfrm>
            <a:off x="988060" y="2145665"/>
            <a:ext cx="1630045" cy="368300"/>
          </a:xfrm>
          <a:prstGeom prst="rect">
            <a:avLst/>
          </a:prstGeom>
          <a:noFill/>
        </p:spPr>
        <p:txBody>
          <a:bodyPr wrap="square" rtlCol="0">
            <a:spAutoFit/>
          </a:bodyPr>
          <a:p>
            <a:r>
              <a:rPr lang="en-US" altLang="en-IN" sz="1800" b="1"/>
              <a:t>Output :</a:t>
            </a:r>
            <a:endParaRPr lang="en-US" altLang="en-IN" sz="1800" b="1"/>
          </a:p>
        </p:txBody>
      </p:sp>
      <p:sp>
        <p:nvSpPr>
          <p:cNvPr id="12" name="Text Box 11"/>
          <p:cNvSpPr txBox="1"/>
          <p:nvPr/>
        </p:nvSpPr>
        <p:spPr>
          <a:xfrm>
            <a:off x="988060" y="554990"/>
            <a:ext cx="10461625" cy="953135"/>
          </a:xfrm>
          <a:prstGeom prst="rect">
            <a:avLst/>
          </a:prstGeom>
          <a:noFill/>
        </p:spPr>
        <p:txBody>
          <a:bodyPr wrap="square" rtlCol="0">
            <a:spAutoFit/>
          </a:bodyPr>
          <a:p>
            <a:r>
              <a:rPr lang="en-IN" sz="2800" b="1" dirty="0">
                <a:latin typeface="Calibri" panose="020F0502020204030204" charset="0"/>
                <a:cs typeface="Calibri" panose="020F0502020204030204" charset="0"/>
                <a:sym typeface="+mn-ea"/>
              </a:rPr>
              <a:t>3. Which</a:t>
            </a:r>
            <a:r>
              <a:rPr lang="en-US" sz="2800" b="1" dirty="0">
                <a:latin typeface="Calibri" panose="020F0502020204030204" charset="0"/>
                <a:cs typeface="Calibri" panose="020F0502020204030204" charset="0"/>
                <a:sym typeface="+mn-ea"/>
              </a:rPr>
              <a:t> </a:t>
            </a:r>
            <a:r>
              <a:rPr lang="en-US" altLang="en-US" sz="2800" b="1" dirty="0">
                <a:latin typeface="Calibri" panose="020F0502020204030204" charset="0"/>
                <a:cs typeface="Calibri" panose="020F0502020204030204" charset="0"/>
                <a:sym typeface="+mn-ea"/>
              </a:rPr>
              <a:t>departments have the largest salary gap between the lowest-paid and highest-paid employees?</a:t>
            </a:r>
            <a:endParaRPr lang="en-US" altLang="en-US" sz="2800" b="1" dirty="0">
              <a:latin typeface="Calibri" panose="020F0502020204030204" charset="0"/>
              <a:cs typeface="Calibri" panose="020F0502020204030204" charset="0"/>
              <a:sym typeface="+mn-ea"/>
            </a:endParaRPr>
          </a:p>
        </p:txBody>
      </p:sp>
      <p:sp>
        <p:nvSpPr>
          <p:cNvPr id="13" name="Text Box 12"/>
          <p:cNvSpPr txBox="1"/>
          <p:nvPr/>
        </p:nvSpPr>
        <p:spPr>
          <a:xfrm>
            <a:off x="751840" y="3686175"/>
            <a:ext cx="10628630" cy="991235"/>
          </a:xfrm>
          <a:prstGeom prst="rect">
            <a:avLst/>
          </a:prstGeom>
          <a:noFill/>
        </p:spPr>
        <p:txBody>
          <a:bodyPr wrap="square" rtlCol="0">
            <a:noAutofit/>
          </a:bodyPr>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altLang="en-US" sz="1200" dirty="0">
              <a:effectLst/>
              <a:latin typeface="Arial" panose="020B0604020202020204" pitchFamily="34" charset="0"/>
              <a:sym typeface="+mn-ea"/>
            </a:endParaRPr>
          </a:p>
          <a:p>
            <a:endParaRPr lang="en-US" altLang="en-US" sz="1200" dirty="0">
              <a:effectLst/>
              <a:latin typeface="Arial" panose="020B0604020202020204" pitchFamily="34" charset="0"/>
              <a:sym typeface="+mn-ea"/>
            </a:endParaRPr>
          </a:p>
          <a:p>
            <a:r>
              <a:rPr lang="en-US" altLang="en-US" sz="1200" dirty="0">
                <a:effectLst/>
                <a:latin typeface="Arial" panose="020B0604020202020204" pitchFamily="34" charset="0"/>
                <a:sym typeface="+mn-ea"/>
              </a:rPr>
              <a:t>.</a:t>
            </a:r>
            <a:endParaRPr lang="en-US" altLang="en-US" sz="1200" b="0" i="0" u="none" strike="noStrike" dirty="0">
              <a:solidFill>
                <a:srgbClr val="000000"/>
              </a:solidFill>
              <a:effectLst/>
              <a:latin typeface="Arial" panose="020B0604020202020204" pitchFamily="34" charset="0"/>
            </a:endParaRPr>
          </a:p>
          <a:p>
            <a:endParaRPr lang="en-US" sz="1200"/>
          </a:p>
        </p:txBody>
      </p:sp>
      <p:sp>
        <p:nvSpPr>
          <p:cNvPr id="2" name="Text Box 1"/>
          <p:cNvSpPr txBox="1"/>
          <p:nvPr/>
        </p:nvSpPr>
        <p:spPr>
          <a:xfrm>
            <a:off x="988060" y="4343400"/>
            <a:ext cx="10462260" cy="1630045"/>
          </a:xfrm>
          <a:prstGeom prst="rect">
            <a:avLst/>
          </a:prstGeom>
          <a:noFill/>
        </p:spPr>
        <p:txBody>
          <a:bodyPr wrap="square" rtlCol="0">
            <a:spAutoFit/>
          </a:bodyPr>
          <a:p>
            <a:r>
              <a:rPr lang="en-US" sz="1800" b="1" dirty="0">
                <a:latin typeface="Arial" panose="020B0604020202020204" pitchFamily="34" charset="0"/>
                <a:sym typeface="+mn-ea"/>
              </a:rPr>
              <a:t>Observation:</a:t>
            </a:r>
            <a:endParaRPr lang="en-US" sz="1800" b="1" dirty="0">
              <a:latin typeface="Arial" panose="020B0604020202020204" pitchFamily="34" charset="0"/>
              <a:sym typeface="+mn-ea"/>
            </a:endParaRPr>
          </a:p>
          <a:p>
            <a:r>
              <a:rPr lang="en-US" altLang="en-US" sz="1800" dirty="0">
                <a:effectLst/>
                <a:latin typeface="Arial" panose="020B0604020202020204" pitchFamily="34" charset="0"/>
                <a:sym typeface="+mn-ea"/>
              </a:rPr>
              <a:t>The query calculates the minimum salary, maximum salary, and the salary gap for each department, ordering the results by the salary gap in descending order to identify the departments with the largest disparity.</a:t>
            </a:r>
            <a:endParaRPr lang="en-US" altLang="en-US" sz="1800" dirty="0">
              <a:effectLst/>
              <a:latin typeface="Arial" panose="020B0604020202020204" pitchFamily="34" charset="0"/>
              <a:sym typeface="+mn-ea"/>
            </a:endParaRPr>
          </a:p>
          <a:p>
            <a:endParaRPr lang="en-US"/>
          </a:p>
          <a:p>
            <a:endParaRPr lang="en-US"/>
          </a:p>
        </p:txBody>
      </p:sp>
      <p:pic>
        <p:nvPicPr>
          <p:cNvPr id="5" name="Picture 4"/>
          <p:cNvPicPr>
            <a:picLocks noChangeAspect="1"/>
          </p:cNvPicPr>
          <p:nvPr/>
        </p:nvPicPr>
        <p:blipFill>
          <a:blip r:embed="rId1"/>
          <a:stretch>
            <a:fillRect/>
          </a:stretch>
        </p:blipFill>
        <p:spPr>
          <a:xfrm>
            <a:off x="1085850" y="1545590"/>
            <a:ext cx="4924425" cy="600075"/>
          </a:xfrm>
          <a:prstGeom prst="rect">
            <a:avLst/>
          </a:prstGeom>
        </p:spPr>
      </p:pic>
      <p:pic>
        <p:nvPicPr>
          <p:cNvPr id="6" name="Picture 5"/>
          <p:cNvPicPr>
            <a:picLocks noChangeAspect="1"/>
          </p:cNvPicPr>
          <p:nvPr/>
        </p:nvPicPr>
        <p:blipFill>
          <a:blip r:embed="rId2"/>
          <a:stretch>
            <a:fillRect/>
          </a:stretch>
        </p:blipFill>
        <p:spPr>
          <a:xfrm>
            <a:off x="1085850" y="2623820"/>
            <a:ext cx="2924175" cy="16097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78180" y="-135890"/>
            <a:ext cx="11064240" cy="6224270"/>
          </a:xfrm>
          <a:prstGeom prst="rect">
            <a:avLst/>
          </a:prstGeom>
          <a:noFill/>
        </p:spPr>
        <p:txBody>
          <a:bodyPr wrap="square">
            <a:noAutofit/>
          </a:bodyPr>
          <a:lstStyle/>
          <a:p>
            <a:pPr rtl="0">
              <a:lnSpc>
                <a:spcPct val="100000"/>
              </a:lnSpc>
              <a:spcBef>
                <a:spcPts val="1400"/>
              </a:spcBef>
              <a:spcAft>
                <a:spcPts val="400"/>
              </a:spcAft>
              <a:buNone/>
            </a:pPr>
            <a:r>
              <a:rPr lang="en-US" sz="2000" b="1" i="0" u="none" strike="noStrike" dirty="0">
                <a:solidFill>
                  <a:srgbClr val="000000"/>
                </a:solidFill>
                <a:effectLst/>
                <a:latin typeface="Arial" panose="020B0604020202020204" pitchFamily="34" charset="0"/>
              </a:rPr>
              <a:t>                     </a:t>
            </a: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endParaRPr>
          </a:p>
          <a:p>
            <a:pPr rtl="0" fontAlgn="base">
              <a:spcBef>
                <a:spcPts val="1200"/>
              </a:spcBef>
              <a:spcAft>
                <a:spcPts val="1200"/>
              </a:spcAft>
            </a:pPr>
            <a:endParaRPr lang="en-IN" altLang="en-US" sz="1200" b="1" dirty="0">
              <a:effectLst/>
              <a:latin typeface="Arial" panose="020B0604020202020204" pitchFamily="34" charset="0"/>
              <a:sym typeface="+mn-ea"/>
            </a:endParaRPr>
          </a:p>
          <a:p>
            <a:pPr rtl="0" fontAlgn="base">
              <a:spcBef>
                <a:spcPts val="1200"/>
              </a:spcBef>
              <a:spcAft>
                <a:spcPts val="1200"/>
              </a:spcAft>
            </a:pPr>
            <a:endParaRPr lang="en-US" altLang="en-US" sz="1200" dirty="0"/>
          </a:p>
          <a:p>
            <a:pPr fontAlgn="base">
              <a:lnSpc>
                <a:spcPct val="150000"/>
              </a:lnSpc>
              <a:spcBef>
                <a:spcPts val="1200"/>
              </a:spcBef>
              <a:spcAft>
                <a:spcPts val="1200"/>
              </a:spcAft>
            </a:pPr>
            <a:endParaRPr lang="en-IN" altLang="en-US" sz="2000"/>
          </a:p>
          <a:p>
            <a:pPr fontAlgn="base">
              <a:lnSpc>
                <a:spcPct val="150000"/>
              </a:lnSpc>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sym typeface="+mn-ea"/>
            </a:endParaRPr>
          </a:p>
          <a:p>
            <a:pPr indent="457200" rtl="0" fontAlgn="base">
              <a:spcBef>
                <a:spcPts val="1200"/>
              </a:spcBef>
              <a:spcAft>
                <a:spcPts val="1200"/>
              </a:spcAft>
            </a:pPr>
            <a:br>
              <a:rPr lang="en-US" sz="1400" b="0" i="0" u="none" strike="noStrike" dirty="0">
                <a:solidFill>
                  <a:srgbClr val="000000"/>
                </a:solidFill>
                <a:effectLst/>
                <a:latin typeface="Arial" panose="020B0604020202020204" pitchFamily="34" charset="0"/>
              </a:rPr>
            </a:br>
            <a:br>
              <a:rPr lang="en-US" sz="1400" b="0" i="0" u="none" strike="noStrike" dirty="0">
                <a:solidFill>
                  <a:srgbClr val="000000"/>
                </a:solidFill>
                <a:effectLst/>
                <a:latin typeface="Arial" panose="020B0604020202020204" pitchFamily="34" charset="0"/>
              </a:rPr>
            </a:br>
            <a:endParaRPr lang="en-US" sz="1400" b="0" i="0" u="none" strike="noStrike" dirty="0">
              <a:solidFill>
                <a:srgbClr val="000000"/>
              </a:solidFill>
              <a:effectLst/>
              <a:latin typeface="Arial" panose="020B0604020202020204" pitchFamily="34" charset="0"/>
            </a:endParaRPr>
          </a:p>
        </p:txBody>
      </p:sp>
      <p:sp>
        <p:nvSpPr>
          <p:cNvPr id="4" name="Text Box 3"/>
          <p:cNvSpPr txBox="1"/>
          <p:nvPr/>
        </p:nvSpPr>
        <p:spPr>
          <a:xfrm>
            <a:off x="988060" y="2686685"/>
            <a:ext cx="1630045" cy="368300"/>
          </a:xfrm>
          <a:prstGeom prst="rect">
            <a:avLst/>
          </a:prstGeom>
          <a:noFill/>
        </p:spPr>
        <p:txBody>
          <a:bodyPr wrap="square" rtlCol="0">
            <a:spAutoFit/>
          </a:bodyPr>
          <a:p>
            <a:r>
              <a:rPr lang="en-US" altLang="en-IN" sz="1800" b="1"/>
              <a:t>Output :</a:t>
            </a:r>
            <a:endParaRPr lang="en-US" altLang="en-IN" sz="1800" b="1"/>
          </a:p>
        </p:txBody>
      </p:sp>
      <p:sp>
        <p:nvSpPr>
          <p:cNvPr id="12" name="Text Box 11"/>
          <p:cNvSpPr txBox="1"/>
          <p:nvPr/>
        </p:nvSpPr>
        <p:spPr>
          <a:xfrm>
            <a:off x="988060" y="554990"/>
            <a:ext cx="10754360" cy="1383665"/>
          </a:xfrm>
          <a:prstGeom prst="rect">
            <a:avLst/>
          </a:prstGeom>
          <a:noFill/>
        </p:spPr>
        <p:txBody>
          <a:bodyPr wrap="square" rtlCol="0">
            <a:spAutoFit/>
          </a:bodyPr>
          <a:p>
            <a:r>
              <a:rPr lang="en-IN" sz="2800" b="1" dirty="0">
                <a:latin typeface="Calibri" panose="020F0502020204030204" charset="0"/>
                <a:cs typeface="Calibri" panose="020F0502020204030204" charset="0"/>
                <a:sym typeface="+mn-ea"/>
              </a:rPr>
              <a:t>4. Which</a:t>
            </a:r>
            <a:r>
              <a:rPr lang="en-US" sz="2800" b="1" dirty="0">
                <a:latin typeface="Calibri" panose="020F0502020204030204" charset="0"/>
                <a:cs typeface="Calibri" panose="020F0502020204030204" charset="0"/>
                <a:sym typeface="+mn-ea"/>
              </a:rPr>
              <a:t> </a:t>
            </a:r>
            <a:r>
              <a:rPr lang="en-US" altLang="en-US" sz="2800" b="1" dirty="0">
                <a:latin typeface="Calibri" panose="020F0502020204030204" charset="0"/>
                <a:cs typeface="Calibri" panose="020F0502020204030204" charset="0"/>
                <a:sym typeface="+mn-ea"/>
              </a:rPr>
              <a:t>employees appear to have a mismatch between their educational qualification and current role level, such as highly qualified employees in lower roles or less-qualified employees in senior roles?</a:t>
            </a:r>
            <a:endParaRPr lang="en-US" altLang="en-US" sz="2800" b="1" dirty="0">
              <a:latin typeface="Calibri" panose="020F0502020204030204" charset="0"/>
              <a:cs typeface="Calibri" panose="020F0502020204030204" charset="0"/>
              <a:sym typeface="+mn-ea"/>
            </a:endParaRPr>
          </a:p>
        </p:txBody>
      </p:sp>
      <p:sp>
        <p:nvSpPr>
          <p:cNvPr id="13" name="Text Box 12"/>
          <p:cNvSpPr txBox="1"/>
          <p:nvPr/>
        </p:nvSpPr>
        <p:spPr>
          <a:xfrm>
            <a:off x="751840" y="3686175"/>
            <a:ext cx="10628630" cy="991235"/>
          </a:xfrm>
          <a:prstGeom prst="rect">
            <a:avLst/>
          </a:prstGeom>
          <a:noFill/>
        </p:spPr>
        <p:txBody>
          <a:bodyPr wrap="square" rtlCol="0">
            <a:noAutofit/>
          </a:bodyPr>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altLang="en-US" sz="1200" dirty="0">
              <a:effectLst/>
              <a:latin typeface="Arial" panose="020B0604020202020204" pitchFamily="34" charset="0"/>
              <a:sym typeface="+mn-ea"/>
            </a:endParaRPr>
          </a:p>
          <a:p>
            <a:endParaRPr lang="en-US" altLang="en-US" sz="1200" dirty="0">
              <a:effectLst/>
              <a:latin typeface="Arial" panose="020B0604020202020204" pitchFamily="34" charset="0"/>
              <a:sym typeface="+mn-ea"/>
            </a:endParaRPr>
          </a:p>
          <a:p>
            <a:r>
              <a:rPr lang="en-US" altLang="en-US" sz="1200" dirty="0">
                <a:effectLst/>
                <a:latin typeface="Arial" panose="020B0604020202020204" pitchFamily="34" charset="0"/>
                <a:sym typeface="+mn-ea"/>
              </a:rPr>
              <a:t>.</a:t>
            </a:r>
            <a:endParaRPr lang="en-US" altLang="en-US" sz="1200" b="0" i="0" u="none" strike="noStrike" dirty="0">
              <a:solidFill>
                <a:srgbClr val="000000"/>
              </a:solidFill>
              <a:effectLst/>
              <a:latin typeface="Arial" panose="020B0604020202020204" pitchFamily="34" charset="0"/>
            </a:endParaRPr>
          </a:p>
          <a:p>
            <a:endParaRPr lang="en-US" sz="1200"/>
          </a:p>
        </p:txBody>
      </p:sp>
      <p:sp>
        <p:nvSpPr>
          <p:cNvPr id="2" name="Text Box 1"/>
          <p:cNvSpPr txBox="1"/>
          <p:nvPr/>
        </p:nvSpPr>
        <p:spPr>
          <a:xfrm>
            <a:off x="988060" y="5308600"/>
            <a:ext cx="10462260" cy="1353185"/>
          </a:xfrm>
          <a:prstGeom prst="rect">
            <a:avLst/>
          </a:prstGeom>
          <a:noFill/>
        </p:spPr>
        <p:txBody>
          <a:bodyPr wrap="square" rtlCol="0">
            <a:spAutoFit/>
          </a:bodyPr>
          <a:p>
            <a:r>
              <a:rPr lang="en-US" sz="1800" b="1" dirty="0">
                <a:latin typeface="Arial" panose="020B0604020202020204" pitchFamily="34" charset="0"/>
                <a:sym typeface="+mn-ea"/>
              </a:rPr>
              <a:t>Observation:</a:t>
            </a:r>
            <a:endParaRPr lang="en-US" sz="1800" b="1" dirty="0">
              <a:latin typeface="Arial" panose="020B0604020202020204" pitchFamily="34" charset="0"/>
              <a:sym typeface="+mn-ea"/>
            </a:endParaRPr>
          </a:p>
          <a:p>
            <a:r>
              <a:rPr lang="en-US" altLang="en-US" sz="1800" dirty="0">
                <a:effectLst/>
                <a:latin typeface="Arial" panose="020B0604020202020204" pitchFamily="34" charset="0"/>
                <a:sym typeface="+mn-ea"/>
              </a:rPr>
              <a:t>The query retrieves employee details for individuals who either hold a Master's degree in Junior or Mid-level roles, or possess a Certification/Other degree level in Senior or Executive roles.</a:t>
            </a:r>
            <a:endParaRPr lang="en-US" altLang="en-US" sz="1800" dirty="0">
              <a:effectLst/>
              <a:latin typeface="Arial" panose="020B0604020202020204" pitchFamily="34" charset="0"/>
              <a:sym typeface="+mn-ea"/>
            </a:endParaRPr>
          </a:p>
          <a:p>
            <a:endParaRPr lang="en-US"/>
          </a:p>
          <a:p>
            <a:endParaRPr lang="en-US"/>
          </a:p>
        </p:txBody>
      </p:sp>
      <p:pic>
        <p:nvPicPr>
          <p:cNvPr id="7" name="Picture 6"/>
          <p:cNvPicPr>
            <a:picLocks noChangeAspect="1"/>
          </p:cNvPicPr>
          <p:nvPr/>
        </p:nvPicPr>
        <p:blipFill>
          <a:blip r:embed="rId1"/>
          <a:stretch>
            <a:fillRect/>
          </a:stretch>
        </p:blipFill>
        <p:spPr>
          <a:xfrm>
            <a:off x="1085850" y="1938655"/>
            <a:ext cx="5588635" cy="805180"/>
          </a:xfrm>
          <a:prstGeom prst="rect">
            <a:avLst/>
          </a:prstGeom>
        </p:spPr>
      </p:pic>
      <p:pic>
        <p:nvPicPr>
          <p:cNvPr id="8" name="Picture 7"/>
          <p:cNvPicPr>
            <a:picLocks noChangeAspect="1"/>
          </p:cNvPicPr>
          <p:nvPr/>
        </p:nvPicPr>
        <p:blipFill>
          <a:blip r:embed="rId2"/>
          <a:stretch>
            <a:fillRect/>
          </a:stretch>
        </p:blipFill>
        <p:spPr>
          <a:xfrm>
            <a:off x="1085850" y="3024505"/>
            <a:ext cx="2472055" cy="22840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78180" y="-135890"/>
            <a:ext cx="11064240" cy="6224270"/>
          </a:xfrm>
          <a:prstGeom prst="rect">
            <a:avLst/>
          </a:prstGeom>
          <a:noFill/>
        </p:spPr>
        <p:txBody>
          <a:bodyPr wrap="square">
            <a:noAutofit/>
          </a:bodyPr>
          <a:lstStyle/>
          <a:p>
            <a:pPr rtl="0">
              <a:lnSpc>
                <a:spcPct val="100000"/>
              </a:lnSpc>
              <a:spcBef>
                <a:spcPts val="1400"/>
              </a:spcBef>
              <a:spcAft>
                <a:spcPts val="400"/>
              </a:spcAft>
              <a:buNone/>
            </a:pPr>
            <a:r>
              <a:rPr lang="en-US" sz="2000" b="1" i="0" u="none" strike="noStrike" dirty="0">
                <a:solidFill>
                  <a:srgbClr val="000000"/>
                </a:solidFill>
                <a:effectLst/>
                <a:latin typeface="Arial" panose="020B0604020202020204" pitchFamily="34" charset="0"/>
              </a:rPr>
              <a:t>                     </a:t>
            </a: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endParaRPr>
          </a:p>
          <a:p>
            <a:pPr rtl="0" fontAlgn="base">
              <a:spcBef>
                <a:spcPts val="1200"/>
              </a:spcBef>
              <a:spcAft>
                <a:spcPts val="1200"/>
              </a:spcAft>
            </a:pPr>
            <a:endParaRPr lang="en-IN" altLang="en-US" sz="1200" b="1" dirty="0">
              <a:effectLst/>
              <a:latin typeface="Arial" panose="020B0604020202020204" pitchFamily="34" charset="0"/>
              <a:sym typeface="+mn-ea"/>
            </a:endParaRPr>
          </a:p>
          <a:p>
            <a:pPr rtl="0" fontAlgn="base">
              <a:spcBef>
                <a:spcPts val="1200"/>
              </a:spcBef>
              <a:spcAft>
                <a:spcPts val="1200"/>
              </a:spcAft>
            </a:pPr>
            <a:endParaRPr lang="en-US" altLang="en-US" sz="1200" dirty="0"/>
          </a:p>
          <a:p>
            <a:pPr fontAlgn="base">
              <a:lnSpc>
                <a:spcPct val="150000"/>
              </a:lnSpc>
              <a:spcBef>
                <a:spcPts val="1200"/>
              </a:spcBef>
              <a:spcAft>
                <a:spcPts val="1200"/>
              </a:spcAft>
            </a:pPr>
            <a:endParaRPr lang="en-IN" altLang="en-US" sz="2000"/>
          </a:p>
          <a:p>
            <a:pPr fontAlgn="base">
              <a:lnSpc>
                <a:spcPct val="150000"/>
              </a:lnSpc>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sym typeface="+mn-ea"/>
            </a:endParaRPr>
          </a:p>
          <a:p>
            <a:pPr indent="457200" rtl="0" fontAlgn="base">
              <a:spcBef>
                <a:spcPts val="1200"/>
              </a:spcBef>
              <a:spcAft>
                <a:spcPts val="1200"/>
              </a:spcAft>
            </a:pPr>
            <a:br>
              <a:rPr lang="en-US" sz="1400" b="0" i="0" u="none" strike="noStrike" dirty="0">
                <a:solidFill>
                  <a:srgbClr val="000000"/>
                </a:solidFill>
                <a:effectLst/>
                <a:latin typeface="Arial" panose="020B0604020202020204" pitchFamily="34" charset="0"/>
              </a:rPr>
            </a:br>
            <a:br>
              <a:rPr lang="en-US" sz="1400" b="0" i="0" u="none" strike="noStrike" dirty="0">
                <a:solidFill>
                  <a:srgbClr val="000000"/>
                </a:solidFill>
                <a:effectLst/>
                <a:latin typeface="Arial" panose="020B0604020202020204" pitchFamily="34" charset="0"/>
              </a:rPr>
            </a:br>
            <a:endParaRPr lang="en-US" sz="1400" b="0" i="0" u="none" strike="noStrike" dirty="0">
              <a:solidFill>
                <a:srgbClr val="000000"/>
              </a:solidFill>
              <a:effectLst/>
              <a:latin typeface="Arial" panose="020B0604020202020204" pitchFamily="34" charset="0"/>
            </a:endParaRPr>
          </a:p>
        </p:txBody>
      </p:sp>
      <p:sp>
        <p:nvSpPr>
          <p:cNvPr id="4" name="Text Box 3"/>
          <p:cNvSpPr txBox="1"/>
          <p:nvPr/>
        </p:nvSpPr>
        <p:spPr>
          <a:xfrm>
            <a:off x="988060" y="2143125"/>
            <a:ext cx="1630045" cy="368300"/>
          </a:xfrm>
          <a:prstGeom prst="rect">
            <a:avLst/>
          </a:prstGeom>
          <a:noFill/>
        </p:spPr>
        <p:txBody>
          <a:bodyPr wrap="square" rtlCol="0">
            <a:spAutoFit/>
          </a:bodyPr>
          <a:p>
            <a:r>
              <a:rPr lang="en-US" altLang="en-IN" sz="1800" b="1"/>
              <a:t>Output :</a:t>
            </a:r>
            <a:endParaRPr lang="en-US" altLang="en-IN" sz="1800" b="1"/>
          </a:p>
        </p:txBody>
      </p:sp>
      <p:sp>
        <p:nvSpPr>
          <p:cNvPr id="12" name="Text Box 11"/>
          <p:cNvSpPr txBox="1"/>
          <p:nvPr/>
        </p:nvSpPr>
        <p:spPr>
          <a:xfrm>
            <a:off x="988060" y="554990"/>
            <a:ext cx="10461625" cy="953135"/>
          </a:xfrm>
          <a:prstGeom prst="rect">
            <a:avLst/>
          </a:prstGeom>
          <a:noFill/>
        </p:spPr>
        <p:txBody>
          <a:bodyPr wrap="square" rtlCol="0">
            <a:spAutoFit/>
          </a:bodyPr>
          <a:p>
            <a:r>
              <a:rPr lang="en-IN" sz="2800" b="1" dirty="0">
                <a:latin typeface="Calibri" panose="020F0502020204030204" charset="0"/>
                <a:cs typeface="Calibri" panose="020F0502020204030204" charset="0"/>
                <a:sym typeface="+mn-ea"/>
              </a:rPr>
              <a:t>5. </a:t>
            </a:r>
            <a:r>
              <a:rPr lang="en-US" altLang="en-US" sz="2800" b="1" dirty="0">
                <a:latin typeface="Calibri" panose="020F0502020204030204" charset="0"/>
                <a:cs typeface="Calibri" panose="020F0502020204030204" charset="0"/>
                <a:sym typeface="+mn-ea"/>
              </a:rPr>
              <a:t>Which employees have taken the highest number of leaves and total leave days?</a:t>
            </a:r>
            <a:endParaRPr lang="en-US" altLang="en-US" sz="2800" b="1" dirty="0">
              <a:latin typeface="Calibri" panose="020F0502020204030204" charset="0"/>
              <a:cs typeface="Calibri" panose="020F0502020204030204" charset="0"/>
              <a:sym typeface="+mn-ea"/>
            </a:endParaRPr>
          </a:p>
        </p:txBody>
      </p:sp>
      <p:sp>
        <p:nvSpPr>
          <p:cNvPr id="13" name="Text Box 12"/>
          <p:cNvSpPr txBox="1"/>
          <p:nvPr/>
        </p:nvSpPr>
        <p:spPr>
          <a:xfrm>
            <a:off x="751840" y="3686175"/>
            <a:ext cx="10628630" cy="991235"/>
          </a:xfrm>
          <a:prstGeom prst="rect">
            <a:avLst/>
          </a:prstGeom>
          <a:noFill/>
        </p:spPr>
        <p:txBody>
          <a:bodyPr wrap="square" rtlCol="0">
            <a:noAutofit/>
          </a:bodyPr>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altLang="en-US" sz="1200" dirty="0">
              <a:effectLst/>
              <a:latin typeface="Arial" panose="020B0604020202020204" pitchFamily="34" charset="0"/>
              <a:sym typeface="+mn-ea"/>
            </a:endParaRPr>
          </a:p>
          <a:p>
            <a:endParaRPr lang="en-US" altLang="en-US" sz="1200" dirty="0">
              <a:effectLst/>
              <a:latin typeface="Arial" panose="020B0604020202020204" pitchFamily="34" charset="0"/>
              <a:sym typeface="+mn-ea"/>
            </a:endParaRPr>
          </a:p>
          <a:p>
            <a:r>
              <a:rPr lang="en-US" altLang="en-US" sz="1200" dirty="0">
                <a:effectLst/>
                <a:latin typeface="Arial" panose="020B0604020202020204" pitchFamily="34" charset="0"/>
                <a:sym typeface="+mn-ea"/>
              </a:rPr>
              <a:t>.</a:t>
            </a:r>
            <a:endParaRPr lang="en-US" altLang="en-US" sz="1200" b="0" i="0" u="none" strike="noStrike" dirty="0">
              <a:solidFill>
                <a:srgbClr val="000000"/>
              </a:solidFill>
              <a:effectLst/>
              <a:latin typeface="Arial" panose="020B0604020202020204" pitchFamily="34" charset="0"/>
            </a:endParaRPr>
          </a:p>
          <a:p>
            <a:endParaRPr lang="en-US" sz="1200"/>
          </a:p>
        </p:txBody>
      </p:sp>
      <p:sp>
        <p:nvSpPr>
          <p:cNvPr id="2" name="Text Box 1"/>
          <p:cNvSpPr txBox="1"/>
          <p:nvPr/>
        </p:nvSpPr>
        <p:spPr>
          <a:xfrm>
            <a:off x="987425" y="5359400"/>
            <a:ext cx="10462260" cy="1353185"/>
          </a:xfrm>
          <a:prstGeom prst="rect">
            <a:avLst/>
          </a:prstGeom>
          <a:noFill/>
        </p:spPr>
        <p:txBody>
          <a:bodyPr wrap="square" rtlCol="0">
            <a:spAutoFit/>
          </a:bodyPr>
          <a:p>
            <a:r>
              <a:rPr lang="en-US" sz="1800" b="1" dirty="0">
                <a:latin typeface="Arial" panose="020B0604020202020204" pitchFamily="34" charset="0"/>
                <a:sym typeface="+mn-ea"/>
              </a:rPr>
              <a:t>Observation:</a:t>
            </a:r>
            <a:endParaRPr lang="en-US" sz="1800" b="1" dirty="0">
              <a:latin typeface="Arial" panose="020B0604020202020204" pitchFamily="34" charset="0"/>
              <a:sym typeface="+mn-ea"/>
            </a:endParaRPr>
          </a:p>
          <a:p>
            <a:r>
              <a:rPr lang="en-US" altLang="en-US" sz="1800" dirty="0">
                <a:effectLst/>
                <a:latin typeface="Arial" panose="020B0604020202020204" pitchFamily="34" charset="0"/>
                <a:sym typeface="+mn-ea"/>
              </a:rPr>
              <a:t>The query calculates the total number of leave instances and the total leave days taken by each employee, grouping the results by employee ID and ordering them by total days in descending order.</a:t>
            </a:r>
            <a:endParaRPr lang="en-US" altLang="en-US" sz="1800" dirty="0">
              <a:effectLst/>
              <a:latin typeface="Arial" panose="020B0604020202020204" pitchFamily="34" charset="0"/>
              <a:sym typeface="+mn-ea"/>
            </a:endParaRPr>
          </a:p>
          <a:p>
            <a:endParaRPr lang="en-US"/>
          </a:p>
          <a:p>
            <a:endParaRPr lang="en-US"/>
          </a:p>
        </p:txBody>
      </p:sp>
      <p:pic>
        <p:nvPicPr>
          <p:cNvPr id="5" name="Picture 4"/>
          <p:cNvPicPr>
            <a:picLocks noChangeAspect="1"/>
          </p:cNvPicPr>
          <p:nvPr/>
        </p:nvPicPr>
        <p:blipFill>
          <a:blip r:embed="rId1"/>
          <a:stretch>
            <a:fillRect/>
          </a:stretch>
        </p:blipFill>
        <p:spPr>
          <a:xfrm>
            <a:off x="1085850" y="1508125"/>
            <a:ext cx="5332730" cy="635000"/>
          </a:xfrm>
          <a:prstGeom prst="rect">
            <a:avLst/>
          </a:prstGeom>
        </p:spPr>
      </p:pic>
      <p:pic>
        <p:nvPicPr>
          <p:cNvPr id="6" name="Picture 5"/>
          <p:cNvPicPr>
            <a:picLocks noChangeAspect="1"/>
          </p:cNvPicPr>
          <p:nvPr/>
        </p:nvPicPr>
        <p:blipFill>
          <a:blip r:embed="rId2"/>
          <a:stretch>
            <a:fillRect/>
          </a:stretch>
        </p:blipFill>
        <p:spPr>
          <a:xfrm>
            <a:off x="1085850" y="2608580"/>
            <a:ext cx="1837690" cy="26536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78180" y="-135890"/>
            <a:ext cx="11064240" cy="6224270"/>
          </a:xfrm>
          <a:prstGeom prst="rect">
            <a:avLst/>
          </a:prstGeom>
          <a:noFill/>
        </p:spPr>
        <p:txBody>
          <a:bodyPr wrap="square">
            <a:noAutofit/>
          </a:bodyPr>
          <a:lstStyle/>
          <a:p>
            <a:pPr rtl="0">
              <a:lnSpc>
                <a:spcPct val="100000"/>
              </a:lnSpc>
              <a:spcBef>
                <a:spcPts val="1400"/>
              </a:spcBef>
              <a:spcAft>
                <a:spcPts val="400"/>
              </a:spcAft>
              <a:buNone/>
            </a:pPr>
            <a:r>
              <a:rPr lang="en-US" sz="2000" b="1" i="0" u="none" strike="noStrike" dirty="0">
                <a:solidFill>
                  <a:srgbClr val="000000"/>
                </a:solidFill>
                <a:effectLst/>
                <a:latin typeface="Arial" panose="020B0604020202020204" pitchFamily="34" charset="0"/>
              </a:rPr>
              <a:t>                     </a:t>
            </a: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endParaRPr>
          </a:p>
          <a:p>
            <a:pPr rtl="0" fontAlgn="base">
              <a:spcBef>
                <a:spcPts val="1200"/>
              </a:spcBef>
              <a:spcAft>
                <a:spcPts val="1200"/>
              </a:spcAft>
            </a:pPr>
            <a:endParaRPr lang="en-IN" altLang="en-US" sz="1200" b="1" dirty="0">
              <a:effectLst/>
              <a:latin typeface="Arial" panose="020B0604020202020204" pitchFamily="34" charset="0"/>
              <a:sym typeface="+mn-ea"/>
            </a:endParaRPr>
          </a:p>
          <a:p>
            <a:pPr rtl="0" fontAlgn="base">
              <a:spcBef>
                <a:spcPts val="1200"/>
              </a:spcBef>
              <a:spcAft>
                <a:spcPts val="1200"/>
              </a:spcAft>
            </a:pPr>
            <a:endParaRPr lang="en-US" altLang="en-US" sz="1200" dirty="0"/>
          </a:p>
          <a:p>
            <a:pPr fontAlgn="base">
              <a:lnSpc>
                <a:spcPct val="150000"/>
              </a:lnSpc>
              <a:spcBef>
                <a:spcPts val="1200"/>
              </a:spcBef>
              <a:spcAft>
                <a:spcPts val="1200"/>
              </a:spcAft>
            </a:pPr>
            <a:endParaRPr lang="en-IN" altLang="en-US" sz="2000"/>
          </a:p>
          <a:p>
            <a:pPr fontAlgn="base">
              <a:lnSpc>
                <a:spcPct val="150000"/>
              </a:lnSpc>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sym typeface="+mn-ea"/>
            </a:endParaRPr>
          </a:p>
          <a:p>
            <a:pPr indent="457200" rtl="0" fontAlgn="base">
              <a:spcBef>
                <a:spcPts val="1200"/>
              </a:spcBef>
              <a:spcAft>
                <a:spcPts val="1200"/>
              </a:spcAft>
            </a:pPr>
            <a:br>
              <a:rPr lang="en-US" sz="1400" b="0" i="0" u="none" strike="noStrike" dirty="0">
                <a:solidFill>
                  <a:srgbClr val="000000"/>
                </a:solidFill>
                <a:effectLst/>
                <a:latin typeface="Arial" panose="020B0604020202020204" pitchFamily="34" charset="0"/>
              </a:rPr>
            </a:br>
            <a:br>
              <a:rPr lang="en-US" sz="1400" b="0" i="0" u="none" strike="noStrike" dirty="0">
                <a:solidFill>
                  <a:srgbClr val="000000"/>
                </a:solidFill>
                <a:effectLst/>
                <a:latin typeface="Arial" panose="020B0604020202020204" pitchFamily="34" charset="0"/>
              </a:rPr>
            </a:br>
            <a:endParaRPr lang="en-US" sz="1400" b="0" i="0" u="none" strike="noStrike" dirty="0">
              <a:solidFill>
                <a:srgbClr val="000000"/>
              </a:solidFill>
              <a:effectLst/>
              <a:latin typeface="Arial" panose="020B0604020202020204" pitchFamily="34" charset="0"/>
            </a:endParaRPr>
          </a:p>
        </p:txBody>
      </p:sp>
      <p:sp>
        <p:nvSpPr>
          <p:cNvPr id="4" name="Text Box 3"/>
          <p:cNvSpPr txBox="1"/>
          <p:nvPr/>
        </p:nvSpPr>
        <p:spPr>
          <a:xfrm>
            <a:off x="988060" y="2966085"/>
            <a:ext cx="1630045" cy="368300"/>
          </a:xfrm>
          <a:prstGeom prst="rect">
            <a:avLst/>
          </a:prstGeom>
          <a:noFill/>
        </p:spPr>
        <p:txBody>
          <a:bodyPr wrap="square" rtlCol="0">
            <a:spAutoFit/>
          </a:bodyPr>
          <a:p>
            <a:r>
              <a:rPr lang="en-US" altLang="en-IN" sz="1800" b="1"/>
              <a:t>Output :</a:t>
            </a:r>
            <a:endParaRPr lang="en-US" altLang="en-IN" sz="1800" b="1"/>
          </a:p>
        </p:txBody>
      </p:sp>
      <p:sp>
        <p:nvSpPr>
          <p:cNvPr id="12" name="Text Box 11"/>
          <p:cNvSpPr txBox="1"/>
          <p:nvPr/>
        </p:nvSpPr>
        <p:spPr>
          <a:xfrm>
            <a:off x="988060" y="554990"/>
            <a:ext cx="10461625" cy="521970"/>
          </a:xfrm>
          <a:prstGeom prst="rect">
            <a:avLst/>
          </a:prstGeom>
          <a:noFill/>
        </p:spPr>
        <p:txBody>
          <a:bodyPr wrap="square" rtlCol="0">
            <a:spAutoFit/>
          </a:bodyPr>
          <a:p>
            <a:r>
              <a:rPr lang="en-IN" sz="2800" b="1" dirty="0">
                <a:latin typeface="Calibri" panose="020F0502020204030204" charset="0"/>
                <a:cs typeface="Calibri" panose="020F0502020204030204" charset="0"/>
                <a:sym typeface="+mn-ea"/>
              </a:rPr>
              <a:t>6. </a:t>
            </a:r>
            <a:r>
              <a:rPr lang="en-US" altLang="en-US" sz="2800" b="1" dirty="0">
                <a:latin typeface="Calibri" panose="020F0502020204030204" charset="0"/>
                <a:cs typeface="Calibri" panose="020F0502020204030204" charset="0"/>
                <a:sym typeface="+mn-ea"/>
              </a:rPr>
              <a:t>Which employees have the highest risk score?</a:t>
            </a:r>
            <a:endParaRPr lang="en-US" altLang="en-US" sz="2800" b="1" dirty="0">
              <a:latin typeface="Calibri" panose="020F0502020204030204" charset="0"/>
              <a:cs typeface="Calibri" panose="020F0502020204030204" charset="0"/>
              <a:sym typeface="+mn-ea"/>
            </a:endParaRPr>
          </a:p>
        </p:txBody>
      </p:sp>
      <p:sp>
        <p:nvSpPr>
          <p:cNvPr id="13" name="Text Box 12"/>
          <p:cNvSpPr txBox="1"/>
          <p:nvPr/>
        </p:nvSpPr>
        <p:spPr>
          <a:xfrm>
            <a:off x="751840" y="3686175"/>
            <a:ext cx="10628630" cy="991235"/>
          </a:xfrm>
          <a:prstGeom prst="rect">
            <a:avLst/>
          </a:prstGeom>
          <a:noFill/>
        </p:spPr>
        <p:txBody>
          <a:bodyPr wrap="square" rtlCol="0">
            <a:noAutofit/>
          </a:bodyPr>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altLang="en-US" sz="1200" dirty="0">
              <a:effectLst/>
              <a:latin typeface="Arial" panose="020B0604020202020204" pitchFamily="34" charset="0"/>
              <a:sym typeface="+mn-ea"/>
            </a:endParaRPr>
          </a:p>
          <a:p>
            <a:endParaRPr lang="en-US" altLang="en-US" sz="1200" dirty="0">
              <a:effectLst/>
              <a:latin typeface="Arial" panose="020B0604020202020204" pitchFamily="34" charset="0"/>
              <a:sym typeface="+mn-ea"/>
            </a:endParaRPr>
          </a:p>
          <a:p>
            <a:r>
              <a:rPr lang="en-US" altLang="en-US" sz="1200" dirty="0">
                <a:effectLst/>
                <a:latin typeface="Arial" panose="020B0604020202020204" pitchFamily="34" charset="0"/>
                <a:sym typeface="+mn-ea"/>
              </a:rPr>
              <a:t>.</a:t>
            </a:r>
            <a:endParaRPr lang="en-US" altLang="en-US" sz="1200" b="0" i="0" u="none" strike="noStrike" dirty="0">
              <a:solidFill>
                <a:srgbClr val="000000"/>
              </a:solidFill>
              <a:effectLst/>
              <a:latin typeface="Arial" panose="020B0604020202020204" pitchFamily="34" charset="0"/>
            </a:endParaRPr>
          </a:p>
          <a:p>
            <a:endParaRPr lang="en-US" sz="1200"/>
          </a:p>
        </p:txBody>
      </p:sp>
      <p:sp>
        <p:nvSpPr>
          <p:cNvPr id="2" name="Text Box 1"/>
          <p:cNvSpPr txBox="1"/>
          <p:nvPr/>
        </p:nvSpPr>
        <p:spPr>
          <a:xfrm>
            <a:off x="987425" y="5260975"/>
            <a:ext cx="10462260" cy="1198880"/>
          </a:xfrm>
          <a:prstGeom prst="rect">
            <a:avLst/>
          </a:prstGeom>
          <a:noFill/>
        </p:spPr>
        <p:txBody>
          <a:bodyPr wrap="square" rtlCol="0">
            <a:spAutoFit/>
          </a:bodyPr>
          <a:p>
            <a:r>
              <a:rPr lang="en-US" sz="1800" b="1" dirty="0">
                <a:latin typeface="Arial" panose="020B0604020202020204" pitchFamily="34" charset="0"/>
                <a:sym typeface="+mn-ea"/>
              </a:rPr>
              <a:t>Observation:</a:t>
            </a:r>
            <a:endParaRPr lang="en-US" sz="1800" b="1" dirty="0">
              <a:latin typeface="Arial" panose="020B0604020202020204" pitchFamily="34" charset="0"/>
              <a:sym typeface="+mn-ea"/>
            </a:endParaRPr>
          </a:p>
          <a:p>
            <a:r>
              <a:rPr lang="en-US" altLang="en-US" sz="1800" dirty="0">
                <a:effectLst/>
                <a:latin typeface="Arial" panose="020B0604020202020204" pitchFamily="34" charset="0"/>
                <a:sym typeface="+mn-ea"/>
              </a:rPr>
              <a:t>The query calculates a composite risk score for each employee based on tenure/role level, below-average salary, and lack of applied raises, ordering the results in descending order to highlight those with the highest risk score.</a:t>
            </a:r>
            <a:endParaRPr lang="en-US" altLang="en-US" sz="1800" dirty="0">
              <a:effectLst/>
              <a:latin typeface="Arial" panose="020B0604020202020204" pitchFamily="34" charset="0"/>
              <a:sym typeface="+mn-ea"/>
            </a:endParaRPr>
          </a:p>
        </p:txBody>
      </p:sp>
      <p:pic>
        <p:nvPicPr>
          <p:cNvPr id="7" name="Picture 6"/>
          <p:cNvPicPr>
            <a:picLocks noChangeAspect="1"/>
          </p:cNvPicPr>
          <p:nvPr/>
        </p:nvPicPr>
        <p:blipFill>
          <a:blip r:embed="rId1"/>
          <a:stretch>
            <a:fillRect/>
          </a:stretch>
        </p:blipFill>
        <p:spPr>
          <a:xfrm>
            <a:off x="1095375" y="1076960"/>
            <a:ext cx="4618355" cy="1864360"/>
          </a:xfrm>
          <a:prstGeom prst="rect">
            <a:avLst/>
          </a:prstGeom>
        </p:spPr>
      </p:pic>
      <p:pic>
        <p:nvPicPr>
          <p:cNvPr id="8" name="Picture 7"/>
          <p:cNvPicPr>
            <a:picLocks noChangeAspect="1"/>
          </p:cNvPicPr>
          <p:nvPr/>
        </p:nvPicPr>
        <p:blipFill>
          <a:blip r:embed="rId2"/>
          <a:stretch>
            <a:fillRect/>
          </a:stretch>
        </p:blipFill>
        <p:spPr>
          <a:xfrm>
            <a:off x="1095375" y="3334385"/>
            <a:ext cx="2430145" cy="19265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0405" y="478790"/>
            <a:ext cx="10584815" cy="5361940"/>
          </a:xfrm>
          <a:prstGeom prst="rect">
            <a:avLst/>
          </a:prstGeom>
          <a:noFill/>
        </p:spPr>
        <p:txBody>
          <a:bodyPr wrap="square">
            <a:noAutofit/>
          </a:bodyPr>
          <a:lstStyle/>
          <a:p>
            <a:r>
              <a:rPr lang="en-IN" altLang="en-US" sz="4000" b="1" dirty="0">
                <a:solidFill>
                  <a:srgbClr val="FF0000"/>
                </a:solidFill>
                <a:latin typeface="Times New Roman" panose="02020603050405020304" charset="0"/>
                <a:cs typeface="Times New Roman" panose="02020603050405020304" charset="0"/>
              </a:rPr>
              <a:t>Key Insights</a:t>
            </a:r>
            <a:endParaRPr lang="en-US" sz="4000" b="1" dirty="0">
              <a:solidFill>
                <a:srgbClr val="FF0000"/>
              </a:solidFill>
              <a:latin typeface="Times New Roman" panose="02020603050405020304" charset="0"/>
              <a:cs typeface="Times New Roman" panose="02020603050405020304" charset="0"/>
            </a:endParaRPr>
          </a:p>
          <a:p>
            <a:endParaRPr lang="en-US" altLang="en-US" sz="1800" dirty="0"/>
          </a:p>
          <a:p>
            <a:pPr marL="342900" indent="-342900" algn="l">
              <a:buFont typeface="Arial" panose="020B0604020202020204" pitchFamily="34" charset="0"/>
              <a:buChar char="•"/>
            </a:pPr>
            <a:r>
              <a:rPr lang="en-US" altLang="en-US" sz="2400" dirty="0"/>
              <a:t>Identified employees facing career stagnation despite having higher experience.</a:t>
            </a:r>
            <a:endParaRPr lang="en-US" altLang="en-US" sz="2400" dirty="0"/>
          </a:p>
          <a:p>
            <a:pPr marL="342900" indent="-342900" algn="l">
              <a:buFont typeface="Arial" panose="020B0604020202020204" pitchFamily="34" charset="0"/>
              <a:buChar char="•"/>
            </a:pPr>
            <a:r>
              <a:rPr lang="en-US" altLang="en-US" sz="2400" dirty="0"/>
              <a:t>Found salary disparities among employees and across departments.</a:t>
            </a:r>
            <a:endParaRPr lang="en-US" altLang="en-US" sz="2400" dirty="0"/>
          </a:p>
          <a:p>
            <a:pPr marL="342900" indent="-342900" algn="l">
              <a:buFont typeface="Arial" panose="020B0604020202020204" pitchFamily="34" charset="0"/>
              <a:buChar char="•"/>
            </a:pPr>
            <a:r>
              <a:rPr lang="en-US" altLang="en-US" sz="2400" dirty="0"/>
              <a:t>Detected qualification–role mismatches where employee education does not align with role level.</a:t>
            </a:r>
            <a:endParaRPr lang="en-US" altLang="en-US" sz="2400" dirty="0"/>
          </a:p>
          <a:p>
            <a:pPr marL="342900" indent="-342900" algn="l">
              <a:buFont typeface="Arial" panose="020B0604020202020204" pitchFamily="34" charset="0"/>
              <a:buChar char="•"/>
            </a:pPr>
            <a:r>
              <a:rPr lang="en-US" altLang="en-US" sz="2400" dirty="0"/>
              <a:t>Analyzed leave patterns to identify employees with unusually high leave usage.</a:t>
            </a:r>
            <a:endParaRPr lang="en-US" altLang="en-US" sz="2400" dirty="0"/>
          </a:p>
          <a:p>
            <a:pPr marL="342900" indent="-342900" algn="l">
              <a:buFont typeface="Arial" panose="020B0604020202020204" pitchFamily="34" charset="0"/>
              <a:buChar char="•"/>
            </a:pPr>
            <a:r>
              <a:rPr lang="en-US" altLang="en-US" sz="2400" dirty="0"/>
              <a:t>Identified employees earning below their department’s average salary.</a:t>
            </a:r>
            <a:endParaRPr lang="en-US" altLang="en-US" sz="2400" dirty="0"/>
          </a:p>
          <a:p>
            <a:pPr marL="342900" indent="-342900" algn="l">
              <a:buFont typeface="Arial" panose="020B0604020202020204" pitchFamily="34" charset="0"/>
              <a:buChar char="•"/>
            </a:pPr>
            <a:r>
              <a:rPr lang="en-US" altLang="en-US" sz="2400" dirty="0"/>
              <a:t>Developed a Workforce Risk Score to highlight employees who may require HR attention.</a:t>
            </a:r>
            <a:endParaRPr lang="en-US" altLang="en-US" sz="2400" dirty="0"/>
          </a:p>
          <a:p>
            <a:pPr marL="342900" indent="-342900" algn="l">
              <a:buFont typeface="Arial" panose="020B0604020202020204" pitchFamily="34" charset="0"/>
              <a:buChar char="•"/>
            </a:pPr>
            <a:r>
              <a:rPr lang="en-US" altLang="en-US" sz="2400" dirty="0"/>
              <a:t>Learned how SQL-based analysis can support fairer, data-driven HR decisions related to salary, promotion, and employee placement.</a:t>
            </a:r>
            <a:endParaRPr lang="en-US" alt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0405" y="626110"/>
            <a:ext cx="10584815" cy="4869815"/>
          </a:xfrm>
          <a:prstGeom prst="rect">
            <a:avLst/>
          </a:prstGeom>
          <a:noFill/>
        </p:spPr>
        <p:txBody>
          <a:bodyPr wrap="square">
            <a:noAutofit/>
          </a:bodyPr>
          <a:lstStyle/>
          <a:p>
            <a:r>
              <a:rPr lang="en-US" sz="4000" b="1" dirty="0">
                <a:solidFill>
                  <a:srgbClr val="FF0000"/>
                </a:solidFill>
                <a:latin typeface="Times New Roman" panose="02020603050405020304" charset="0"/>
                <a:cs typeface="Times New Roman" panose="02020603050405020304" charset="0"/>
              </a:rPr>
              <a:t>Conclusion</a:t>
            </a:r>
            <a:endParaRPr lang="en-US" sz="4000" b="1" dirty="0">
              <a:solidFill>
                <a:srgbClr val="FF0000"/>
              </a:solidFill>
              <a:latin typeface="Times New Roman" panose="02020603050405020304" charset="0"/>
              <a:cs typeface="Times New Roman" panose="02020603050405020304" charset="0"/>
            </a:endParaRPr>
          </a:p>
          <a:p>
            <a:endParaRPr lang="en-US" altLang="en-US" sz="1800" dirty="0"/>
          </a:p>
          <a:p>
            <a:pPr algn="l"/>
            <a:r>
              <a:rPr lang="en-US" altLang="en-US" sz="2400" dirty="0"/>
              <a:t>Th</a:t>
            </a:r>
            <a:r>
              <a:rPr lang="en-IN" altLang="en-US" sz="2400" dirty="0"/>
              <a:t>e </a:t>
            </a:r>
            <a:r>
              <a:rPr lang="en-US" altLang="en-US" sz="2400" dirty="0"/>
              <a:t>project provides HR with a clearer understanding of employee placement, compensation, career growth, qualifications, and leave patterns. By identifying career stagnation, salary disparities, role mismatches, unequal bonuses, and unusual leave trends, management can recognize areas where employees may not be treated fairly.</a:t>
            </a:r>
            <a:endParaRPr lang="en-US" altLang="en-US" sz="2400" dirty="0"/>
          </a:p>
          <a:p>
            <a:pPr algn="l"/>
            <a:endParaRPr lang="en-US" altLang="en-US" sz="2400" dirty="0"/>
          </a:p>
          <a:p>
            <a:pPr algn="l"/>
            <a:r>
              <a:rPr lang="en-US" altLang="en-US" sz="2400" dirty="0"/>
              <a:t>The Workforce Risk Score further helps prioritize employees who may require HR attention. Overall, the analysis supports more fair, transparent, and data-driven decisions related to salary, promotions, employee roles, and workforce management.</a:t>
            </a:r>
            <a:endParaRPr lang="en-US" alt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5345" y="531495"/>
            <a:ext cx="10412095" cy="5005070"/>
          </a:xfrm>
          <a:prstGeom prst="rect">
            <a:avLst/>
          </a:prstGeom>
          <a:noFill/>
        </p:spPr>
        <p:txBody>
          <a:bodyPr wrap="square">
            <a:noAutofit/>
          </a:bodyPr>
          <a:lstStyle/>
          <a:p>
            <a:pPr>
              <a:lnSpc>
                <a:spcPct val="150000"/>
              </a:lnSpc>
              <a:buNone/>
            </a:pPr>
            <a:r>
              <a:rPr lang="en-IN" sz="4000" b="1" dirty="0">
                <a:solidFill>
                  <a:srgbClr val="FF0000"/>
                </a:solidFill>
                <a:latin typeface="Times New Roman" panose="02020603050405020304" charset="0"/>
                <a:cs typeface="Times New Roman" panose="02020603050405020304" charset="0"/>
              </a:rPr>
              <a:t>Experience/Challenges working</a:t>
            </a:r>
            <a:endParaRPr lang="en-US" altLang="en-US" sz="1800" dirty="0"/>
          </a:p>
          <a:p>
            <a:pPr marL="285750" indent="-285750">
              <a:lnSpc>
                <a:spcPct val="150000"/>
              </a:lnSpc>
              <a:buFont typeface="Arial" panose="020B0604020202020204" pitchFamily="34" charset="0"/>
              <a:buChar char="•"/>
            </a:pPr>
            <a:r>
              <a:rPr lang="en-US" altLang="en-US" sz="2200" dirty="0"/>
              <a:t>Learned to design and manage relational databases using SQL.</a:t>
            </a:r>
            <a:endParaRPr lang="en-US" altLang="en-US" sz="2200" dirty="0"/>
          </a:p>
          <a:p>
            <a:pPr marL="285750" indent="-285750">
              <a:lnSpc>
                <a:spcPct val="150000"/>
              </a:lnSpc>
              <a:buFont typeface="Arial" panose="020B0604020202020204" pitchFamily="34" charset="0"/>
              <a:buChar char="•"/>
            </a:pPr>
            <a:r>
              <a:rPr lang="en-US" altLang="en-US" sz="2200" dirty="0"/>
              <a:t>Improved SQL skills using JOINs, subqueries, GROUP BY, CASE, and aggregate functions.</a:t>
            </a:r>
            <a:endParaRPr lang="en-US" altLang="en-US" sz="2200" dirty="0"/>
          </a:p>
          <a:p>
            <a:pPr marL="285750" indent="-285750">
              <a:lnSpc>
                <a:spcPct val="150000"/>
              </a:lnSpc>
              <a:buFont typeface="Arial" panose="020B0604020202020204" pitchFamily="34" charset="0"/>
              <a:buChar char="•"/>
            </a:pPr>
            <a:r>
              <a:rPr lang="en-US" altLang="en-US" sz="2200" dirty="0"/>
              <a:t>Analyzed career stagnation, salary disparities, qualification mismatches, and leave patterns.</a:t>
            </a:r>
            <a:endParaRPr lang="en-US" altLang="en-US" sz="2200" dirty="0"/>
          </a:p>
          <a:p>
            <a:pPr marL="285750" indent="-285750">
              <a:lnSpc>
                <a:spcPct val="150000"/>
              </a:lnSpc>
              <a:buFont typeface="Arial" panose="020B0604020202020204" pitchFamily="34" charset="0"/>
              <a:buChar char="•"/>
            </a:pPr>
            <a:r>
              <a:rPr lang="en-US" altLang="en-US" sz="2200" dirty="0"/>
              <a:t>Faced challenges in combining multiple tables and debugging complex queries.</a:t>
            </a:r>
            <a:endParaRPr lang="en-US" altLang="en-US" sz="2200" dirty="0"/>
          </a:p>
          <a:p>
            <a:pPr marL="285750" indent="-285750">
              <a:lnSpc>
                <a:spcPct val="150000"/>
              </a:lnSpc>
              <a:buFont typeface="Arial" panose="020B0604020202020204" pitchFamily="34" charset="0"/>
              <a:buChar char="•"/>
            </a:pPr>
            <a:r>
              <a:rPr lang="en-US" altLang="en-US" sz="2200" dirty="0"/>
              <a:t>Gained experience in creating employee risk scores for HR decision-making.</a:t>
            </a:r>
            <a:endParaRPr lang="en-US" alt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1"/>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1244600" y="259334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panose="02000000000000000000"/>
              <a:buNone/>
            </a:pPr>
            <a:r>
              <a:rPr lang="en-IN" sz="4400" b="0" i="0" u="none" strike="noStrike" cap="none">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THANK YOU</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5683</Words>
  <Application>WPS Presentation</Application>
  <PresentationFormat>Widescreen</PresentationFormat>
  <Paragraphs>322</Paragraphs>
  <Slides>17</Slides>
  <Notes>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17</vt:i4>
      </vt:variant>
    </vt:vector>
  </HeadingPairs>
  <TitlesOfParts>
    <vt:vector size="30" baseType="lpstr">
      <vt:lpstr>Arial</vt:lpstr>
      <vt:lpstr>SimSun</vt:lpstr>
      <vt:lpstr>Wingdings</vt:lpstr>
      <vt:lpstr>Arial</vt:lpstr>
      <vt:lpstr>Calibri</vt:lpstr>
      <vt:lpstr>Arial Narrow</vt:lpstr>
      <vt:lpstr>Lato Black</vt:lpstr>
      <vt:lpstr>Times New Roman</vt:lpstr>
      <vt:lpstr>Calibri</vt:lpstr>
      <vt:lpstr>Libre Baskerville</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22B61A05B8 MEDABOINA KUSHAL</cp:lastModifiedBy>
  <cp:revision>19</cp:revision>
  <dcterms:created xsi:type="dcterms:W3CDTF">2021-02-16T05:19:00Z</dcterms:created>
  <dcterms:modified xsi:type="dcterms:W3CDTF">2026-08-16T18:24:59Z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DED78D19DBFB4EFB9E75AE5AB0F21863_13</vt:lpwstr>
  </property>
</Properties>
</file>